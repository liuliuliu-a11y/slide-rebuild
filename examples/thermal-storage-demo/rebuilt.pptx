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公开演示。所有参数和曲线均为虚构；设备图为示意。SOC 曲线由 MATLAB 数据与脚本再生成，在 PPT 中为独立图片。公式是可编辑文本，不是 Office 公式对象。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04172" y="51043"/>
            <a:ext cx="3500095" cy="663559"/>
          </a:xfrm>
          <a:prstGeom prst="rect">
            <a:avLst/>
          </a:prstGeom>
          <a:noFill/>
        </p:spPr>
        <p:txBody>
          <a:bodyPr wrap="none" lIns="21875" rIns="21875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300" b="1">
                <a:solidFill>
                  <a:srgbClr val="16324F"/>
                </a:solidFill>
                <a:latin typeface="Microsoft YaHei"/>
                <a:ea typeface="Microsoft YaHei"/>
              </a:rPr>
              <a:t>工业储热系统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937607" y="145837"/>
            <a:ext cx="4739712" cy="466679"/>
          </a:xfrm>
          <a:prstGeom prst="rect">
            <a:avLst/>
          </a:prstGeom>
          <a:noFill/>
        </p:spPr>
        <p:txBody>
          <a:bodyPr wrap="none" lIns="21875" rIns="21875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506880"/>
                </a:solidFill>
                <a:latin typeface="Microsoft YaHei"/>
                <a:ea typeface="Microsoft YaHei"/>
              </a:rPr>
              <a:t>能量流与运行状态</a:t>
            </a:r>
          </a:p>
        </p:txBody>
      </p:sp>
      <p:sp>
        <p:nvSpPr>
          <p:cNvPr id="4" name="snapshot"/>
          <p:cNvSpPr/>
          <p:nvPr/>
        </p:nvSpPr>
        <p:spPr>
          <a:xfrm>
            <a:off x="9771100" y="175004"/>
            <a:ext cx="2216727" cy="422928"/>
          </a:xfrm>
          <a:prstGeom prst="roundRect">
            <a:avLst>
              <a:gd name="adj" fmla="val 12000"/>
            </a:avLst>
          </a:prstGeom>
          <a:solidFill>
            <a:srgbClr val="16324F"/>
          </a:solidFill>
          <a:ln>
            <a:noFill/>
          </a:ln>
        </p:spPr>
        <p:txBody>
          <a:bodyPr rtlCol="0" anchor="ctr" wrap="none" lIns="21875" rIns="21875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12:00  |  虚构运行快照</a:t>
            </a:r>
          </a:p>
        </p:txBody>
      </p:sp>
      <p:grpSp>
        <p:nvGrpSpPr>
          <p:cNvPr id="7" name="metric-0"/>
          <p:cNvGrpSpPr/>
          <p:nvPr/>
        </p:nvGrpSpPr>
        <p:grpSpPr>
          <a:xfrm>
            <a:off x="160421" y="823980"/>
            <a:ext cx="2909454" cy="751062"/>
            <a:chOff x="160421" y="823980"/>
            <a:chExt cx="2909454" cy="751062"/>
          </a:xfrm>
        </p:grpSpPr>
        <p:sp>
          <p:nvSpPr>
            <p:cNvPr id="5" name="metric-0-label"/>
            <p:cNvSpPr txBox="1"/>
            <p:nvPr/>
          </p:nvSpPr>
          <p:spPr>
            <a:xfrm>
              <a:off x="160421" y="823980"/>
              <a:ext cx="2909454" cy="269799"/>
            </a:xfrm>
            <a:prstGeom prst="rect">
              <a:avLst/>
            </a:prstGeom>
            <a:noFill/>
          </p:spPr>
          <p:txBody>
            <a:bodyPr wrap="none" lIns="21875" rIns="21875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506880"/>
                  </a:solidFill>
                  <a:latin typeface="Microsoft YaHei"/>
                  <a:ea typeface="Microsoft YaHei"/>
                </a:rPr>
                <a:t>额定储能量</a:t>
              </a:r>
            </a:p>
          </p:txBody>
        </p:sp>
        <p:sp>
          <p:nvSpPr>
            <p:cNvPr id="6" name="metric-0-value"/>
            <p:cNvSpPr txBox="1"/>
            <p:nvPr/>
          </p:nvSpPr>
          <p:spPr>
            <a:xfrm>
              <a:off x="160421" y="1101071"/>
              <a:ext cx="2909454" cy="473971"/>
            </a:xfrm>
            <a:prstGeom prst="rect">
              <a:avLst/>
            </a:prstGeom>
            <a:noFill/>
          </p:spPr>
          <p:txBody>
            <a:bodyPr wrap="none" lIns="21875" rIns="21875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3400" b="1">
                  <a:solidFill>
                    <a:srgbClr val="078C95"/>
                  </a:solidFill>
                  <a:latin typeface="Microsoft YaHei"/>
                  <a:ea typeface="Microsoft YaHei"/>
                </a:rPr>
                <a:t>800 kWh</a:t>
              </a:r>
            </a:p>
          </p:txBody>
        </p:sp>
      </p:grpSp>
      <p:grpSp>
        <p:nvGrpSpPr>
          <p:cNvPr id="10" name="metric-1"/>
          <p:cNvGrpSpPr/>
          <p:nvPr/>
        </p:nvGrpSpPr>
        <p:grpSpPr>
          <a:xfrm>
            <a:off x="3208421" y="823980"/>
            <a:ext cx="2909454" cy="751062"/>
            <a:chOff x="3208421" y="823980"/>
            <a:chExt cx="2909454" cy="751062"/>
          </a:xfrm>
        </p:grpSpPr>
        <p:sp>
          <p:nvSpPr>
            <p:cNvPr id="8" name="metric-1-label"/>
            <p:cNvSpPr txBox="1"/>
            <p:nvPr/>
          </p:nvSpPr>
          <p:spPr>
            <a:xfrm>
              <a:off x="3208421" y="823980"/>
              <a:ext cx="2909454" cy="269799"/>
            </a:xfrm>
            <a:prstGeom prst="rect">
              <a:avLst/>
            </a:prstGeom>
            <a:noFill/>
          </p:spPr>
          <p:txBody>
            <a:bodyPr wrap="none" lIns="21875" rIns="21875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506880"/>
                  </a:solidFill>
                  <a:latin typeface="Microsoft YaHei"/>
                  <a:ea typeface="Microsoft YaHei"/>
                </a:rPr>
                <a:t>充电功率上限</a:t>
              </a:r>
            </a:p>
          </p:txBody>
        </p:sp>
        <p:sp>
          <p:nvSpPr>
            <p:cNvPr id="9" name="metric-1-value"/>
            <p:cNvSpPr txBox="1"/>
            <p:nvPr/>
          </p:nvSpPr>
          <p:spPr>
            <a:xfrm>
              <a:off x="3208421" y="1101071"/>
              <a:ext cx="2909454" cy="473971"/>
            </a:xfrm>
            <a:prstGeom prst="rect">
              <a:avLst/>
            </a:prstGeom>
            <a:noFill/>
          </p:spPr>
          <p:txBody>
            <a:bodyPr wrap="none" lIns="21875" rIns="21875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3400" b="1">
                  <a:solidFill>
                    <a:srgbClr val="078C95"/>
                  </a:solidFill>
                  <a:latin typeface="Microsoft YaHei"/>
                  <a:ea typeface="Microsoft YaHei"/>
                </a:rPr>
                <a:t>200 kW</a:t>
              </a:r>
            </a:p>
          </p:txBody>
        </p:sp>
      </p:grpSp>
      <p:grpSp>
        <p:nvGrpSpPr>
          <p:cNvPr id="13" name="metric-2"/>
          <p:cNvGrpSpPr/>
          <p:nvPr/>
        </p:nvGrpSpPr>
        <p:grpSpPr>
          <a:xfrm>
            <a:off x="6256421" y="823980"/>
            <a:ext cx="2909454" cy="751062"/>
            <a:chOff x="6256421" y="823980"/>
            <a:chExt cx="2909454" cy="751062"/>
          </a:xfrm>
        </p:grpSpPr>
        <p:sp>
          <p:nvSpPr>
            <p:cNvPr id="11" name="metric-2-label"/>
            <p:cNvSpPr txBox="1"/>
            <p:nvPr/>
          </p:nvSpPr>
          <p:spPr>
            <a:xfrm>
              <a:off x="6256421" y="823980"/>
              <a:ext cx="2909454" cy="269799"/>
            </a:xfrm>
            <a:prstGeom prst="rect">
              <a:avLst/>
            </a:prstGeom>
            <a:noFill/>
          </p:spPr>
          <p:txBody>
            <a:bodyPr wrap="none" lIns="21875" rIns="21875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506880"/>
                  </a:solidFill>
                  <a:latin typeface="Microsoft YaHei"/>
                  <a:ea typeface="Microsoft YaHei"/>
                </a:rPr>
                <a:t>示例放热功率</a:t>
              </a:r>
            </a:p>
          </p:txBody>
        </p:sp>
        <p:sp>
          <p:nvSpPr>
            <p:cNvPr id="12" name="metric-2-value"/>
            <p:cNvSpPr txBox="1"/>
            <p:nvPr/>
          </p:nvSpPr>
          <p:spPr>
            <a:xfrm>
              <a:off x="6256421" y="1101071"/>
              <a:ext cx="2909454" cy="473971"/>
            </a:xfrm>
            <a:prstGeom prst="rect">
              <a:avLst/>
            </a:prstGeom>
            <a:noFill/>
          </p:spPr>
          <p:txBody>
            <a:bodyPr wrap="none" lIns="21875" rIns="21875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3400" b="1">
                  <a:solidFill>
                    <a:srgbClr val="078C95"/>
                  </a:solidFill>
                  <a:latin typeface="Microsoft YaHei"/>
                  <a:ea typeface="Microsoft YaHei"/>
                </a:rPr>
                <a:t>160 kW</a:t>
              </a:r>
            </a:p>
          </p:txBody>
        </p:sp>
      </p:grpSp>
      <p:grpSp>
        <p:nvGrpSpPr>
          <p:cNvPr id="16" name="metric-3"/>
          <p:cNvGrpSpPr/>
          <p:nvPr/>
        </p:nvGrpSpPr>
        <p:grpSpPr>
          <a:xfrm>
            <a:off x="9304421" y="823980"/>
            <a:ext cx="2909454" cy="751062"/>
            <a:chOff x="9304421" y="823980"/>
            <a:chExt cx="2909454" cy="751062"/>
          </a:xfrm>
        </p:grpSpPr>
        <p:sp>
          <p:nvSpPr>
            <p:cNvPr id="14" name="metric-3-label"/>
            <p:cNvSpPr txBox="1"/>
            <p:nvPr/>
          </p:nvSpPr>
          <p:spPr>
            <a:xfrm>
              <a:off x="9304421" y="823980"/>
              <a:ext cx="2909454" cy="269799"/>
            </a:xfrm>
            <a:prstGeom prst="rect">
              <a:avLst/>
            </a:prstGeom>
            <a:noFill/>
          </p:spPr>
          <p:txBody>
            <a:bodyPr wrap="none" lIns="21875" rIns="21875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506880"/>
                  </a:solidFill>
                  <a:latin typeface="Microsoft YaHei"/>
                  <a:ea typeface="Microsoft YaHei"/>
                </a:rPr>
                <a:t>当前 SOC</a:t>
              </a:r>
            </a:p>
          </p:txBody>
        </p:sp>
        <p:sp>
          <p:nvSpPr>
            <p:cNvPr id="15" name="metric-3-value"/>
            <p:cNvSpPr txBox="1"/>
            <p:nvPr/>
          </p:nvSpPr>
          <p:spPr>
            <a:xfrm>
              <a:off x="9304421" y="1101071"/>
              <a:ext cx="2909454" cy="473971"/>
            </a:xfrm>
            <a:prstGeom prst="rect">
              <a:avLst/>
            </a:prstGeom>
            <a:noFill/>
          </p:spPr>
          <p:txBody>
            <a:bodyPr wrap="none" lIns="21875" rIns="21875" t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3400" b="1">
                  <a:solidFill>
                    <a:srgbClr val="078C95"/>
                  </a:solidFill>
                  <a:latin typeface="Microsoft YaHei"/>
                  <a:ea typeface="Microsoft YaHei"/>
                </a:rPr>
                <a:t>65%</a:t>
              </a:r>
            </a:p>
          </p:txBody>
        </p:sp>
      </p:grpSp>
      <p:sp>
        <p:nvSpPr>
          <p:cNvPr id="17" name="left-panel"/>
          <p:cNvSpPr/>
          <p:nvPr/>
        </p:nvSpPr>
        <p:spPr>
          <a:xfrm>
            <a:off x="160421" y="1684421"/>
            <a:ext cx="6971023" cy="4360535"/>
          </a:xfrm>
          <a:prstGeom prst="rect">
            <a:avLst/>
          </a:prstGeom>
          <a:solidFill>
            <a:srgbClr val="FFFFFF"/>
          </a:solidFill>
          <a:ln w="17780">
            <a:solidFill>
              <a:srgbClr val="DCE5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chart-panel"/>
          <p:cNvSpPr/>
          <p:nvPr/>
        </p:nvSpPr>
        <p:spPr>
          <a:xfrm>
            <a:off x="7204363" y="1684421"/>
            <a:ext cx="4834507" cy="2501110"/>
          </a:xfrm>
          <a:prstGeom prst="rect">
            <a:avLst/>
          </a:prstGeom>
          <a:solidFill>
            <a:srgbClr val="FFFFFF"/>
          </a:solidFill>
          <a:ln w="17780">
            <a:solidFill>
              <a:srgbClr val="DCE5E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diagram-header"/>
          <p:cNvSpPr/>
          <p:nvPr/>
        </p:nvSpPr>
        <p:spPr>
          <a:xfrm>
            <a:off x="160421" y="1684421"/>
            <a:ext cx="6971023" cy="39376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rtlCol="0" anchor="ctr" wrap="none" lIns="211464" rIns="21875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</a:rPr>
              <a:t>能量路径与调度</a:t>
            </a:r>
          </a:p>
        </p:txBody>
      </p:sp>
      <p:sp>
        <p:nvSpPr>
          <p:cNvPr id="20" name="diagram-header-accent"/>
          <p:cNvSpPr/>
          <p:nvPr/>
        </p:nvSpPr>
        <p:spPr>
          <a:xfrm>
            <a:off x="160421" y="1684421"/>
            <a:ext cx="94794" cy="393760"/>
          </a:xfrm>
          <a:prstGeom prst="rect">
            <a:avLst/>
          </a:prstGeom>
          <a:solidFill>
            <a:srgbClr val="078C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hart-header"/>
          <p:cNvSpPr/>
          <p:nvPr/>
        </p:nvSpPr>
        <p:spPr>
          <a:xfrm>
            <a:off x="7204363" y="1684421"/>
            <a:ext cx="4834507" cy="39376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rtlCol="0" anchor="ctr" wrap="none" lIns="211464" rIns="21875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</a:rPr>
              <a:t>SOC 示例曲线</a:t>
            </a:r>
          </a:p>
        </p:txBody>
      </p:sp>
      <p:sp>
        <p:nvSpPr>
          <p:cNvPr id="22" name="chart-header-accent"/>
          <p:cNvSpPr/>
          <p:nvPr/>
        </p:nvSpPr>
        <p:spPr>
          <a:xfrm>
            <a:off x="7204363" y="1684421"/>
            <a:ext cx="94794" cy="393760"/>
          </a:xfrm>
          <a:prstGeom prst="rect">
            <a:avLst/>
          </a:prstGeom>
          <a:solidFill>
            <a:srgbClr val="078C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able-header"/>
          <p:cNvSpPr/>
          <p:nvPr/>
        </p:nvSpPr>
        <p:spPr>
          <a:xfrm>
            <a:off x="7204363" y="4258449"/>
            <a:ext cx="4834507" cy="393760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rtlCol="0" anchor="ctr" wrap="none" lIns="211464" rIns="21875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</a:rPr>
              <a:t>计算口径</a:t>
            </a:r>
          </a:p>
        </p:txBody>
      </p:sp>
      <p:sp>
        <p:nvSpPr>
          <p:cNvPr id="24" name="table-header-accent"/>
          <p:cNvSpPr/>
          <p:nvPr/>
        </p:nvSpPr>
        <p:spPr>
          <a:xfrm>
            <a:off x="7204363" y="4258449"/>
            <a:ext cx="94794" cy="393760"/>
          </a:xfrm>
          <a:prstGeom prst="rect">
            <a:avLst/>
          </a:prstGeom>
          <a:solidFill>
            <a:srgbClr val="078C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5" name="equipment-image" descr="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244" y="2574028"/>
            <a:ext cx="2858411" cy="2858411"/>
          </a:xfrm>
          <a:prstGeom prst="rect">
            <a:avLst/>
          </a:prstGeom>
        </p:spPr>
      </p:pic>
      <p:sp>
        <p:nvSpPr>
          <p:cNvPr id="26" name="equipment-label"/>
          <p:cNvSpPr txBox="1"/>
          <p:nvPr/>
        </p:nvSpPr>
        <p:spPr>
          <a:xfrm>
            <a:off x="3332382" y="5323062"/>
            <a:ext cx="1859425" cy="277090"/>
          </a:xfrm>
          <a:prstGeom prst="rect">
            <a:avLst/>
          </a:prstGeom>
          <a:noFill/>
        </p:spPr>
        <p:txBody>
          <a:bodyPr wrap="none" lIns="21875" rIns="21875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储热单元</a:t>
            </a:r>
          </a:p>
        </p:txBody>
      </p:sp>
      <p:sp>
        <p:nvSpPr>
          <p:cNvPr id="27" name="grid-node"/>
          <p:cNvSpPr/>
          <p:nvPr/>
        </p:nvSpPr>
        <p:spPr>
          <a:xfrm>
            <a:off x="320842" y="3602181"/>
            <a:ext cx="896899" cy="46667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16324F"/>
            </a:solidFill>
          </a:ln>
        </p:spPr>
        <p:txBody>
          <a:bodyPr rtlCol="0" anchor="ctr" wrap="none" lIns="21875" rIns="21875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电网</a:t>
            </a:r>
          </a:p>
        </p:txBody>
      </p:sp>
      <p:sp>
        <p:nvSpPr>
          <p:cNvPr id="28" name="heater-node"/>
          <p:cNvSpPr/>
          <p:nvPr/>
        </p:nvSpPr>
        <p:spPr>
          <a:xfrm>
            <a:off x="1771923" y="3616765"/>
            <a:ext cx="823980" cy="44480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16324F"/>
            </a:solidFill>
          </a:ln>
        </p:spPr>
        <p:txBody>
          <a:bodyPr rtlCol="0" anchor="ctr" wrap="none" lIns="21875" rIns="21875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电加热</a:t>
            </a:r>
          </a:p>
        </p:txBody>
      </p:sp>
      <p:sp>
        <p:nvSpPr>
          <p:cNvPr id="29" name="user-node"/>
          <p:cNvSpPr/>
          <p:nvPr/>
        </p:nvSpPr>
        <p:spPr>
          <a:xfrm>
            <a:off x="6110583" y="3609473"/>
            <a:ext cx="853148" cy="47397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16324F"/>
            </a:solidFill>
          </a:ln>
        </p:spPr>
        <p:txBody>
          <a:bodyPr rtlCol="0" anchor="ctr" wrap="none" lIns="21875" rIns="21875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324F"/>
                </a:solidFill>
                <a:latin typeface="Microsoft YaHei"/>
                <a:ea typeface="Microsoft YaHei"/>
              </a:rPr>
              <a:t>热用户</a:t>
            </a:r>
          </a:p>
        </p:txBody>
      </p:sp>
      <p:sp>
        <p:nvSpPr>
          <p:cNvPr id="30" name="control-node"/>
          <p:cNvSpPr/>
          <p:nvPr/>
        </p:nvSpPr>
        <p:spPr>
          <a:xfrm>
            <a:off x="2697990" y="2202143"/>
            <a:ext cx="1166698" cy="342717"/>
          </a:xfrm>
          <a:prstGeom prst="roundRect">
            <a:avLst>
              <a:gd name="adj" fmla="val 12000"/>
            </a:avLst>
          </a:prstGeom>
          <a:solidFill>
            <a:srgbClr val="16324F"/>
          </a:solidFill>
          <a:ln w="17780">
            <a:solidFill>
              <a:srgbClr val="16324F"/>
            </a:solidFill>
          </a:ln>
        </p:spPr>
        <p:txBody>
          <a:bodyPr rtlCol="0" anchor="ctr" wrap="none" lIns="21875" rIns="21875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调度控制</a:t>
            </a:r>
          </a:p>
        </p:txBody>
      </p:sp>
      <p:cxnSp>
        <p:nvCxnSpPr>
          <p:cNvPr id="31" name="grid-to-heater"/>
          <p:cNvCxnSpPr>
            <a:stCxn id="27" idx="3"/>
            <a:endCxn id="28" idx="1"/>
          </p:cNvCxnSpPr>
          <p:nvPr/>
        </p:nvCxnSpPr>
        <p:spPr>
          <a:xfrm>
            <a:off x="1217741" y="3835520"/>
            <a:ext cx="554182" cy="3646"/>
          </a:xfrm>
          <a:prstGeom prst="line">
            <a:avLst/>
          </a:prstGeom>
          <a:ln w="38100">
            <a:solidFill>
              <a:srgbClr val="EF931D"/>
            </a:solidFill>
            <a:tailEnd type="triangle"/>
          </a:ln>
        </p:spPr>
      </p:cxnSp>
      <p:sp>
        <p:nvSpPr>
          <p:cNvPr id="32" name="storage-input-port"/>
          <p:cNvSpPr/>
          <p:nvPr/>
        </p:nvSpPr>
        <p:spPr>
          <a:xfrm>
            <a:off x="3077167" y="3806354"/>
            <a:ext cx="51043" cy="51043"/>
          </a:xfrm>
          <a:prstGeom prst="roundRect">
            <a:avLst>
              <a:gd name="adj" fmla="val 12000"/>
            </a:avLst>
          </a:prstGeom>
          <a:solidFill>
            <a:srgbClr val="EF93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torage-output-port"/>
          <p:cNvSpPr/>
          <p:nvPr/>
        </p:nvSpPr>
        <p:spPr>
          <a:xfrm>
            <a:off x="5498066" y="3806354"/>
            <a:ext cx="51043" cy="51043"/>
          </a:xfrm>
          <a:prstGeom prst="roundRect">
            <a:avLst>
              <a:gd name="adj" fmla="val 12000"/>
            </a:avLst>
          </a:prstGeom>
          <a:solidFill>
            <a:srgbClr val="078C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torage-control-port"/>
          <p:cNvSpPr/>
          <p:nvPr/>
        </p:nvSpPr>
        <p:spPr>
          <a:xfrm>
            <a:off x="3252172" y="2989665"/>
            <a:ext cx="58334" cy="58334"/>
          </a:xfrm>
          <a:prstGeom prst="roundRect">
            <a:avLst>
              <a:gd name="adj" fmla="val 12000"/>
            </a:avLst>
          </a:prstGeom>
          <a:solidFill>
            <a:srgbClr val="1632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5" name="heater-to-storage"/>
          <p:cNvCxnSpPr>
            <a:stCxn id="28" idx="3"/>
            <a:endCxn id="32" idx="1"/>
          </p:cNvCxnSpPr>
          <p:nvPr/>
        </p:nvCxnSpPr>
        <p:spPr>
          <a:xfrm flipV="1">
            <a:off x="2595903" y="3831875"/>
            <a:ext cx="481264" cy="7291"/>
          </a:xfrm>
          <a:prstGeom prst="line">
            <a:avLst/>
          </a:prstGeom>
          <a:ln w="38100">
            <a:solidFill>
              <a:srgbClr val="EF931D"/>
            </a:solidFill>
            <a:tailEnd type="triangle"/>
          </a:ln>
        </p:spPr>
      </p:cxnSp>
      <p:cxnSp>
        <p:nvCxnSpPr>
          <p:cNvPr id="36" name="storage-to-user"/>
          <p:cNvCxnSpPr>
            <a:stCxn id="33" idx="3"/>
            <a:endCxn id="29" idx="1"/>
          </p:cNvCxnSpPr>
          <p:nvPr/>
        </p:nvCxnSpPr>
        <p:spPr>
          <a:xfrm>
            <a:off x="5549109" y="3831875"/>
            <a:ext cx="561474" cy="14583"/>
          </a:xfrm>
          <a:prstGeom prst="line">
            <a:avLst/>
          </a:prstGeom>
          <a:ln w="38100">
            <a:solidFill>
              <a:srgbClr val="078C95"/>
            </a:solidFill>
            <a:tailEnd type="triangle"/>
          </a:ln>
        </p:spPr>
      </p:cxnSp>
      <p:cxnSp>
        <p:nvCxnSpPr>
          <p:cNvPr id="37" name="control-to-heater-route"/>
          <p:cNvCxnSpPr>
            <a:stCxn id="30" idx="1"/>
          </p:cNvCxnSpPr>
          <p:nvPr/>
        </p:nvCxnSpPr>
        <p:spPr>
          <a:xfrm flipH="1" flipV="1">
            <a:off x="2187559" y="2369856"/>
            <a:ext cx="510431" cy="3645"/>
          </a:xfrm>
          <a:prstGeom prst="line">
            <a:avLst/>
          </a:prstGeom>
          <a:ln w="19050">
            <a:solidFill>
              <a:srgbClr val="16324F"/>
            </a:solidFill>
            <a:prstDash val="dash"/>
          </a:ln>
        </p:spPr>
      </p:cxnSp>
      <p:cxnSp>
        <p:nvCxnSpPr>
          <p:cNvPr id="38" name="control-to-heater"/>
          <p:cNvCxnSpPr>
            <a:endCxn id="28" idx="0"/>
          </p:cNvCxnSpPr>
          <p:nvPr/>
        </p:nvCxnSpPr>
        <p:spPr>
          <a:xfrm flipH="1">
            <a:off x="2183913" y="2369856"/>
            <a:ext cx="3646" cy="1246909"/>
          </a:xfrm>
          <a:prstGeom prst="line">
            <a:avLst/>
          </a:prstGeom>
          <a:ln w="19050">
            <a:solidFill>
              <a:srgbClr val="16324F"/>
            </a:solidFill>
            <a:prstDash val="dash"/>
            <a:tailEnd type="triangle"/>
          </a:ln>
        </p:spPr>
      </p:cxnSp>
      <p:cxnSp>
        <p:nvCxnSpPr>
          <p:cNvPr id="39" name="control-to-storage"/>
          <p:cNvCxnSpPr>
            <a:stCxn id="30" idx="2"/>
            <a:endCxn id="34" idx="0"/>
          </p:cNvCxnSpPr>
          <p:nvPr/>
        </p:nvCxnSpPr>
        <p:spPr>
          <a:xfrm>
            <a:off x="3281339" y="2544860"/>
            <a:ext cx="0" cy="444805"/>
          </a:xfrm>
          <a:prstGeom prst="line">
            <a:avLst/>
          </a:prstGeom>
          <a:ln w="19050">
            <a:solidFill>
              <a:srgbClr val="16324F"/>
            </a:solidFill>
            <a:prstDash val="dash"/>
            <a:tailEnd type="triangle"/>
          </a:ln>
        </p:spPr>
      </p:cxnSp>
      <p:cxnSp>
        <p:nvCxnSpPr>
          <p:cNvPr id="40" name="legend-energy"/>
          <p:cNvCxnSpPr/>
          <p:nvPr/>
        </p:nvCxnSpPr>
        <p:spPr>
          <a:xfrm>
            <a:off x="350009" y="5826200"/>
            <a:ext cx="525014" cy="0"/>
          </a:xfrm>
          <a:prstGeom prst="line">
            <a:avLst/>
          </a:prstGeom>
          <a:ln w="31750">
            <a:solidFill>
              <a:srgbClr val="EF931D"/>
            </a:solidFill>
            <a:tailEnd type="triangle"/>
          </a:ln>
        </p:spPr>
      </p:cxnSp>
      <p:sp>
        <p:nvSpPr>
          <p:cNvPr id="41" name="legend-energy-text"/>
          <p:cNvSpPr txBox="1"/>
          <p:nvPr/>
        </p:nvSpPr>
        <p:spPr>
          <a:xfrm>
            <a:off x="1013569" y="5680363"/>
            <a:ext cx="1567751" cy="262507"/>
          </a:xfrm>
          <a:prstGeom prst="rect">
            <a:avLst/>
          </a:prstGeom>
          <a:noFill/>
        </p:spPr>
        <p:txBody>
          <a:bodyPr wrap="none" lIns="21875" rIns="21875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324F"/>
                </a:solidFill>
                <a:latin typeface="Microsoft YaHei"/>
                <a:ea typeface="Microsoft YaHei"/>
              </a:rPr>
              <a:t>实线：能量流</a:t>
            </a:r>
          </a:p>
        </p:txBody>
      </p:sp>
      <p:cxnSp>
        <p:nvCxnSpPr>
          <p:cNvPr id="42" name="legend-control"/>
          <p:cNvCxnSpPr/>
          <p:nvPr/>
        </p:nvCxnSpPr>
        <p:spPr>
          <a:xfrm>
            <a:off x="2530277" y="5826200"/>
            <a:ext cx="481263" cy="0"/>
          </a:xfrm>
          <a:prstGeom prst="line">
            <a:avLst/>
          </a:prstGeom>
          <a:ln w="17780">
            <a:solidFill>
              <a:srgbClr val="16324F"/>
            </a:solidFill>
            <a:prstDash val="dash"/>
            <a:tailEnd type="triangle"/>
          </a:ln>
        </p:spPr>
      </p:cxnSp>
      <p:sp>
        <p:nvSpPr>
          <p:cNvPr id="43" name="legend-control-text"/>
          <p:cNvSpPr txBox="1"/>
          <p:nvPr/>
        </p:nvSpPr>
        <p:spPr>
          <a:xfrm>
            <a:off x="3142794" y="5680363"/>
            <a:ext cx="2187559" cy="262507"/>
          </a:xfrm>
          <a:prstGeom prst="rect">
            <a:avLst/>
          </a:prstGeom>
          <a:noFill/>
        </p:spPr>
        <p:txBody>
          <a:bodyPr wrap="none" lIns="21875" rIns="21875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6324F"/>
                </a:solidFill>
                <a:latin typeface="Microsoft YaHei"/>
                <a:ea typeface="Microsoft YaHei"/>
              </a:rPr>
              <a:t>虚线：控制指令</a:t>
            </a:r>
          </a:p>
        </p:txBody>
      </p:sp>
      <p:pic>
        <p:nvPicPr>
          <p:cNvPr id="44" name="soc-matlab-plot" descr="soc-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406" y="2158392"/>
            <a:ext cx="4739712" cy="1990679"/>
          </a:xfrm>
          <a:prstGeom prst="rect">
            <a:avLst/>
          </a:prstGeom>
        </p:spPr>
      </p:pic>
      <p:graphicFrame>
        <p:nvGraphicFramePr>
          <p:cNvPr id="45" name="assumptions-table"/>
          <p:cNvGraphicFramePr>
            <a:graphicFrameLocks noGrp="1"/>
          </p:cNvGraphicFramePr>
          <p:nvPr/>
        </p:nvGraphicFramePr>
        <p:xfrm>
          <a:off x="7204363" y="4652210"/>
          <a:ext cx="4834506" cy="1392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6937"/>
                <a:gridCol w="2537569"/>
              </a:tblGrid>
              <a:tr h="34818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</a:rPr>
                        <a:t>项目</a:t>
                      </a:r>
                    </a:p>
                  </a:txBody>
                  <a:tcPr marL="211464" marT="0" marB="0" anchor="ctr">
                    <a:solidFill>
                      <a:srgbClr val="EAF0F4"/>
                    </a:solidFill>
                    <a:lnL w="6350">
                      <a:solidFill>
                        <a:srgbClr val="DCE5EB"/>
                      </a:solidFill>
                    </a:lnL>
                    <a:lnR w="6350">
                      <a:solidFill>
                        <a:srgbClr val="DCE5EB"/>
                      </a:solidFill>
                    </a:lnR>
                    <a:lnT w="6350">
                      <a:solidFill>
                        <a:srgbClr val="DCE5EB"/>
                      </a:solidFill>
                    </a:lnT>
                    <a:lnB w="6350">
                      <a:solidFill>
                        <a:srgbClr val="DCE5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</a:rPr>
                        <a:t>约定</a:t>
                      </a:r>
                    </a:p>
                  </a:txBody>
                  <a:tcPr marL="211464" marT="0" marB="0" anchor="ctr">
                    <a:solidFill>
                      <a:srgbClr val="EAF0F4"/>
                    </a:solidFill>
                    <a:lnL w="6350">
                      <a:solidFill>
                        <a:srgbClr val="DCE5EB"/>
                      </a:solidFill>
                    </a:lnL>
                    <a:lnR w="6350">
                      <a:solidFill>
                        <a:srgbClr val="DCE5EB"/>
                      </a:solidFill>
                    </a:lnR>
                    <a:lnT w="6350">
                      <a:solidFill>
                        <a:srgbClr val="DCE5EB"/>
                      </a:solidFill>
                    </a:lnT>
                    <a:lnB w="6350">
                      <a:solidFill>
                        <a:srgbClr val="DCE5EB"/>
                      </a:solidFill>
                    </a:lnB>
                  </a:tcPr>
                </a:tc>
              </a:tr>
              <a:tr h="34818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</a:rPr>
                        <a:t>功率与 SOC</a:t>
                      </a:r>
                    </a:p>
                  </a:txBody>
                  <a:tcPr marL="211464" marT="0" marB="0" anchor="ctr">
                    <a:solidFill>
                      <a:srgbClr val="FFFFFF"/>
                    </a:solidFill>
                    <a:lnL w="6350">
                      <a:solidFill>
                        <a:srgbClr val="DCE5EB"/>
                      </a:solidFill>
                    </a:lnL>
                    <a:lnR w="6350">
                      <a:solidFill>
                        <a:srgbClr val="DCE5EB"/>
                      </a:solidFill>
                    </a:lnR>
                    <a:lnT w="6350">
                      <a:solidFill>
                        <a:srgbClr val="DCE5EB"/>
                      </a:solidFill>
                    </a:lnT>
                    <a:lnB w="6350">
                      <a:solidFill>
                        <a:srgbClr val="DCE5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</a:rPr>
                        <a:t>仅为演示数据</a:t>
                      </a:r>
                    </a:p>
                  </a:txBody>
                  <a:tcPr marL="211464" marT="0" marB="0" anchor="ctr">
                    <a:solidFill>
                      <a:srgbClr val="FFFFFF"/>
                    </a:solidFill>
                    <a:lnL w="6350">
                      <a:solidFill>
                        <a:srgbClr val="DCE5EB"/>
                      </a:solidFill>
                    </a:lnL>
                    <a:lnR w="6350">
                      <a:solidFill>
                        <a:srgbClr val="DCE5EB"/>
                      </a:solidFill>
                    </a:lnR>
                    <a:lnT w="6350">
                      <a:solidFill>
                        <a:srgbClr val="DCE5EB"/>
                      </a:solidFill>
                    </a:lnT>
                    <a:lnB w="6350">
                      <a:solidFill>
                        <a:srgbClr val="DCE5EB"/>
                      </a:solidFill>
                    </a:lnB>
                  </a:tcPr>
                </a:tc>
              </a:tr>
              <a:tr h="348186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</a:rPr>
                        <a:t>储能量计算</a:t>
                      </a:r>
                    </a:p>
                  </a:txBody>
                  <a:tcPr marL="211464" marT="0" marB="0" anchor="ctr">
                    <a:solidFill>
                      <a:srgbClr val="FFFFFF"/>
                    </a:solidFill>
                    <a:lnL w="6350">
                      <a:solidFill>
                        <a:srgbClr val="DCE5EB"/>
                      </a:solidFill>
                    </a:lnL>
                    <a:lnR w="6350">
                      <a:solidFill>
                        <a:srgbClr val="DCE5EB"/>
                      </a:solidFill>
                    </a:lnR>
                    <a:lnT w="6350">
                      <a:solidFill>
                        <a:srgbClr val="DCE5EB"/>
                      </a:solidFill>
                    </a:lnT>
                    <a:lnB w="6350">
                      <a:solidFill>
                        <a:srgbClr val="DCE5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</a:rPr>
                        <a:t>按额定值与 SOC</a:t>
                      </a:r>
                    </a:p>
                  </a:txBody>
                  <a:tcPr marL="211464" marT="0" marB="0" anchor="ctr">
                    <a:solidFill>
                      <a:srgbClr val="FFFFFF"/>
                    </a:solidFill>
                    <a:lnL w="6350">
                      <a:solidFill>
                        <a:srgbClr val="DCE5EB"/>
                      </a:solidFill>
                    </a:lnL>
                    <a:lnR w="6350">
                      <a:solidFill>
                        <a:srgbClr val="DCE5EB"/>
                      </a:solidFill>
                    </a:lnR>
                    <a:lnT w="6350">
                      <a:solidFill>
                        <a:srgbClr val="DCE5EB"/>
                      </a:solidFill>
                    </a:lnT>
                    <a:lnB w="6350">
                      <a:solidFill>
                        <a:srgbClr val="DCE5EB"/>
                      </a:solidFill>
                    </a:lnB>
                  </a:tcPr>
                </a:tc>
              </a:tr>
              <a:tr h="3481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</a:rPr>
                        <a:t>净供热量</a:t>
                      </a:r>
                    </a:p>
                  </a:txBody>
                  <a:tcPr marL="211464" marT="0" marB="0" anchor="ctr">
                    <a:solidFill>
                      <a:srgbClr val="FFFFFF"/>
                    </a:solidFill>
                    <a:lnL w="6350">
                      <a:solidFill>
                        <a:srgbClr val="DCE5EB"/>
                      </a:solidFill>
                    </a:lnL>
                    <a:lnR w="6350">
                      <a:solidFill>
                        <a:srgbClr val="DCE5EB"/>
                      </a:solidFill>
                    </a:lnR>
                    <a:lnT w="6350">
                      <a:solidFill>
                        <a:srgbClr val="DCE5EB"/>
                      </a:solidFill>
                    </a:lnT>
                    <a:lnB w="6350">
                      <a:solidFill>
                        <a:srgbClr val="DCE5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</a:rPr>
                        <a:t>本页不计算</a:t>
                      </a:r>
                    </a:p>
                  </a:txBody>
                  <a:tcPr marL="211464" marT="0" marB="0" anchor="ctr">
                    <a:solidFill>
                      <a:srgbClr val="FFFFFF"/>
                    </a:solidFill>
                    <a:lnL w="6350">
                      <a:solidFill>
                        <a:srgbClr val="DCE5EB"/>
                      </a:solidFill>
                    </a:lnL>
                    <a:lnR w="6350">
                      <a:solidFill>
                        <a:srgbClr val="DCE5EB"/>
                      </a:solidFill>
                    </a:lnR>
                    <a:lnT w="6350">
                      <a:solidFill>
                        <a:srgbClr val="DCE5EB"/>
                      </a:solidFill>
                    </a:lnT>
                    <a:lnB w="6350">
                      <a:solidFill>
                        <a:srgbClr val="DCE5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6" name="energy-label"/>
          <p:cNvSpPr/>
          <p:nvPr/>
        </p:nvSpPr>
        <p:spPr>
          <a:xfrm>
            <a:off x="160421" y="6198086"/>
            <a:ext cx="1844842" cy="503138"/>
          </a:xfrm>
          <a:prstGeom prst="rect">
            <a:avLst/>
          </a:prstGeom>
          <a:solidFill>
            <a:srgbClr val="16324F"/>
          </a:solidFill>
          <a:ln>
            <a:noFill/>
          </a:ln>
        </p:spPr>
        <p:txBody>
          <a:bodyPr rtlCol="0" anchor="ctr" wrap="none" lIns="21875" rIns="21875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</a:rPr>
              <a:t>账面储能量</a:t>
            </a:r>
          </a:p>
        </p:txBody>
      </p:sp>
      <p:sp>
        <p:nvSpPr>
          <p:cNvPr id="47" name="formula"/>
          <p:cNvSpPr txBox="1"/>
          <p:nvPr/>
        </p:nvSpPr>
        <p:spPr>
          <a:xfrm>
            <a:off x="2275062" y="6234545"/>
            <a:ext cx="4958468" cy="415636"/>
          </a:xfrm>
          <a:prstGeom prst="rect">
            <a:avLst/>
          </a:prstGeom>
          <a:noFill/>
        </p:spPr>
        <p:txBody>
          <a:bodyPr wrap="none" lIns="21875" rIns="21875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6324F"/>
                </a:solidFill>
                <a:latin typeface="Microsoft YaHei"/>
                <a:ea typeface="Microsoft YaHei"/>
              </a:rPr>
              <a:t>E = 800 × 65% = </a:t>
            </a:r>
            <a:r>
              <a:rPr sz="2400" b="1">
                <a:solidFill>
                  <a:srgbClr val="EF931D"/>
                </a:solidFill>
                <a:latin typeface="Microsoft YaHei"/>
                <a:ea typeface="Microsoft YaHei"/>
              </a:rPr>
              <a:t>520</a:t>
            </a:r>
            <a:r>
              <a:rPr sz="2400" b="1">
                <a:solidFill>
                  <a:srgbClr val="16324F"/>
                </a:solidFill>
                <a:latin typeface="Microsoft YaHei"/>
                <a:ea typeface="Microsoft YaHei"/>
              </a:rPr>
              <a:t> kWh</a:t>
            </a:r>
          </a:p>
        </p:txBody>
      </p:sp>
      <p:sp>
        <p:nvSpPr>
          <p:cNvPr id="48" name="disclaimer"/>
          <p:cNvSpPr txBox="1"/>
          <p:nvPr/>
        </p:nvSpPr>
        <p:spPr>
          <a:xfrm>
            <a:off x="7321033" y="6497052"/>
            <a:ext cx="4666794" cy="255215"/>
          </a:xfrm>
          <a:prstGeom prst="rect">
            <a:avLst/>
          </a:prstGeom>
          <a:noFill/>
        </p:spPr>
        <p:txBody>
          <a:bodyPr wrap="none" lIns="21875" rIns="21875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06880"/>
                </a:solidFill>
                <a:latin typeface="Microsoft YaHei"/>
                <a:ea typeface="Microsoft YaHei"/>
              </a:rPr>
              <a:t>公开复刻示例｜参数与曲线均为虚构；设备图为示意，不代表实际产品或可交付净热量。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工业储热系统：公开复刻示例</dc:title>
  <dc:subject/>
  <dc:creator>Slide Rebuild contributors</dc:creator>
  <cp:keywords/>
  <dc:description>generated using python-pptx</dc:description>
  <cp:lastModifiedBy>Slide Rebuild contributors</cp:lastModifiedBy>
  <cp:revision>1</cp:revision>
  <dcterms:created xsi:type="dcterms:W3CDTF">2013-01-27T09:14:16Z</dcterms:created>
  <dcterms:modified xsi:type="dcterms:W3CDTF">2013-01-27T09:15:58Z</dcterms:modified>
  <cp:category/>
</cp:coreProperties>
</file>