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74320" y="109728"/>
            <a:ext cx="333756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A2A4E"/>
                </a:solidFill>
                <a:latin typeface="Microsoft YaHei"/>
              </a:rPr>
              <a:t>工业储热系统</a:t>
            </a:r>
          </a:p>
        </p:txBody>
      </p:sp>
      <p:sp>
        <p:nvSpPr>
          <p:cNvPr id="3" name="title-divider"/>
          <p:cNvSpPr/>
          <p:nvPr/>
        </p:nvSpPr>
        <p:spPr>
          <a:xfrm>
            <a:off x="3703320" y="210312"/>
            <a:ext cx="10972" cy="347472"/>
          </a:xfrm>
          <a:prstGeom prst="rect">
            <a:avLst/>
          </a:prstGeom>
          <a:solidFill>
            <a:srgbClr val="496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ubtitle"/>
          <p:cNvSpPr txBox="1"/>
          <p:nvPr/>
        </p:nvSpPr>
        <p:spPr>
          <a:xfrm>
            <a:off x="3895344" y="173736"/>
            <a:ext cx="2880360" cy="3931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9677F"/>
                </a:solidFill>
                <a:latin typeface="Microsoft YaHei"/>
              </a:rPr>
              <a:t>能量流与运行状态</a:t>
            </a:r>
          </a:p>
        </p:txBody>
      </p:sp>
      <p:sp>
        <p:nvSpPr>
          <p:cNvPr id="5" name="snapshot-pill"/>
          <p:cNvSpPr/>
          <p:nvPr/>
        </p:nvSpPr>
        <p:spPr>
          <a:xfrm>
            <a:off x="9838944" y="182880"/>
            <a:ext cx="2148840" cy="393192"/>
          </a:xfrm>
          <a:prstGeom prst="roundRect">
            <a:avLst>
              <a:gd name="adj" fmla="val 40000"/>
            </a:avLst>
          </a:prstGeom>
          <a:solidFill>
            <a:srgbClr val="0B5B7F"/>
          </a:solidFill>
          <a:ln w="12700">
            <a:solidFill>
              <a:srgbClr val="0B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27432" rIns="27432" bIns="27432"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Microsoft YaHei"/>
              </a:rPr>
              <a:t>12:00   |   虚构运行快照</a:t>
            </a:r>
          </a:p>
        </p:txBody>
      </p:sp>
      <p:sp>
        <p:nvSpPr>
          <p:cNvPr id="6" name="header-rule"/>
          <p:cNvSpPr/>
          <p:nvPr/>
        </p:nvSpPr>
        <p:spPr>
          <a:xfrm>
            <a:off x="210312" y="786384"/>
            <a:ext cx="11768328" cy="10972"/>
          </a:xfrm>
          <a:prstGeom prst="rect">
            <a:avLst/>
          </a:prstGeom>
          <a:solidFill>
            <a:srgbClr val="D8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etric-0"/>
          <p:cNvSpPr txBox="1"/>
          <p:nvPr/>
        </p:nvSpPr>
        <p:spPr>
          <a:xfrm>
            <a:off x="256032" y="850392"/>
            <a:ext cx="2542032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>
                <a:solidFill>
                  <a:srgbClr val="49677F"/>
                </a:solidFill>
                <a:latin typeface="Microsoft YaHei"/>
              </a:rPr>
              <a:t>额定储能量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893A1"/>
                </a:solidFill>
                <a:latin typeface="Microsoft YaHei"/>
              </a:rPr>
              <a:t>800 kWh</a:t>
            </a:r>
          </a:p>
        </p:txBody>
      </p:sp>
      <p:sp>
        <p:nvSpPr>
          <p:cNvPr id="8" name="metric-separator-0"/>
          <p:cNvSpPr/>
          <p:nvPr/>
        </p:nvSpPr>
        <p:spPr>
          <a:xfrm>
            <a:off x="3044952" y="923544"/>
            <a:ext cx="9144" cy="603504"/>
          </a:xfrm>
          <a:prstGeom prst="rect">
            <a:avLst/>
          </a:prstGeom>
          <a:solidFill>
            <a:srgbClr val="B5C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etric-1"/>
          <p:cNvSpPr txBox="1"/>
          <p:nvPr/>
        </p:nvSpPr>
        <p:spPr>
          <a:xfrm>
            <a:off x="3218688" y="850392"/>
            <a:ext cx="2542032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>
                <a:solidFill>
                  <a:srgbClr val="49677F"/>
                </a:solidFill>
                <a:latin typeface="Microsoft YaHei"/>
              </a:rPr>
              <a:t>充电功率上限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893A1"/>
                </a:solidFill>
                <a:latin typeface="Microsoft YaHei"/>
              </a:rPr>
              <a:t>200 kW</a:t>
            </a:r>
          </a:p>
        </p:txBody>
      </p:sp>
      <p:sp>
        <p:nvSpPr>
          <p:cNvPr id="10" name="metric-separator-1"/>
          <p:cNvSpPr/>
          <p:nvPr/>
        </p:nvSpPr>
        <p:spPr>
          <a:xfrm>
            <a:off x="6080760" y="923544"/>
            <a:ext cx="9144" cy="603504"/>
          </a:xfrm>
          <a:prstGeom prst="rect">
            <a:avLst/>
          </a:prstGeom>
          <a:solidFill>
            <a:srgbClr val="B5C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etric-2"/>
          <p:cNvSpPr txBox="1"/>
          <p:nvPr/>
        </p:nvSpPr>
        <p:spPr>
          <a:xfrm>
            <a:off x="6181344" y="850392"/>
            <a:ext cx="2542032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>
                <a:solidFill>
                  <a:srgbClr val="49677F"/>
                </a:solidFill>
                <a:latin typeface="Microsoft YaHei"/>
              </a:rPr>
              <a:t>示例放热功率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893A1"/>
                </a:solidFill>
                <a:latin typeface="Microsoft YaHei"/>
              </a:rPr>
              <a:t>160 kW</a:t>
            </a:r>
          </a:p>
        </p:txBody>
      </p:sp>
      <p:sp>
        <p:nvSpPr>
          <p:cNvPr id="12" name="metric-separator-2"/>
          <p:cNvSpPr/>
          <p:nvPr/>
        </p:nvSpPr>
        <p:spPr>
          <a:xfrm>
            <a:off x="9116567" y="923544"/>
            <a:ext cx="9144" cy="603504"/>
          </a:xfrm>
          <a:prstGeom prst="rect">
            <a:avLst/>
          </a:prstGeom>
          <a:solidFill>
            <a:srgbClr val="B5C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etric-3"/>
          <p:cNvSpPr txBox="1"/>
          <p:nvPr/>
        </p:nvSpPr>
        <p:spPr>
          <a:xfrm>
            <a:off x="9144000" y="850392"/>
            <a:ext cx="2542032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>
                <a:solidFill>
                  <a:srgbClr val="49677F"/>
                </a:solidFill>
                <a:latin typeface="Microsoft YaHei"/>
              </a:rPr>
              <a:t>当前 SOC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893A1"/>
                </a:solidFill>
                <a:latin typeface="Microsoft YaHei"/>
              </a:rPr>
              <a:t>65%</a:t>
            </a:r>
          </a:p>
        </p:txBody>
      </p:sp>
      <p:sp>
        <p:nvSpPr>
          <p:cNvPr id="14" name="flow-panel"/>
          <p:cNvSpPr/>
          <p:nvPr/>
        </p:nvSpPr>
        <p:spPr>
          <a:xfrm>
            <a:off x="164592" y="1691640"/>
            <a:ext cx="6967728" cy="43525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oc-panel"/>
          <p:cNvSpPr/>
          <p:nvPr/>
        </p:nvSpPr>
        <p:spPr>
          <a:xfrm>
            <a:off x="7214616" y="1691640"/>
            <a:ext cx="4809744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able-panel"/>
          <p:cNvSpPr/>
          <p:nvPr/>
        </p:nvSpPr>
        <p:spPr>
          <a:xfrm>
            <a:off x="7214616" y="4251960"/>
            <a:ext cx="4809744" cy="1792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low-section-title-bar"/>
          <p:cNvSpPr/>
          <p:nvPr/>
        </p:nvSpPr>
        <p:spPr>
          <a:xfrm>
            <a:off x="164592" y="1691640"/>
            <a:ext cx="6967728" cy="393192"/>
          </a:xfrm>
          <a:prstGeom prst="rect">
            <a:avLst/>
          </a:prstGeom>
          <a:solidFill>
            <a:srgbClr val="124A6A"/>
          </a:solidFill>
          <a:ln w="12700">
            <a:solidFill>
              <a:srgbClr val="12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ow-section-title-accent"/>
          <p:cNvSpPr/>
          <p:nvPr/>
        </p:nvSpPr>
        <p:spPr>
          <a:xfrm>
            <a:off x="164592" y="1691640"/>
            <a:ext cx="109728" cy="393192"/>
          </a:xfrm>
          <a:prstGeom prst="rect">
            <a:avLst/>
          </a:prstGeom>
          <a:solidFill>
            <a:srgbClr val="04A9BD"/>
          </a:solidFill>
          <a:ln w="12700">
            <a:solidFill>
              <a:srgbClr val="04A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low-section-title"/>
          <p:cNvSpPr txBox="1"/>
          <p:nvPr/>
        </p:nvSpPr>
        <p:spPr>
          <a:xfrm>
            <a:off x="374904" y="1709928"/>
            <a:ext cx="6693408" cy="3566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能量路径与调度</a:t>
            </a:r>
          </a:p>
        </p:txBody>
      </p:sp>
      <p:sp>
        <p:nvSpPr>
          <p:cNvPr id="20" name="soc-section-title-bar"/>
          <p:cNvSpPr/>
          <p:nvPr/>
        </p:nvSpPr>
        <p:spPr>
          <a:xfrm>
            <a:off x="7214616" y="1691640"/>
            <a:ext cx="4809744" cy="393192"/>
          </a:xfrm>
          <a:prstGeom prst="rect">
            <a:avLst/>
          </a:prstGeom>
          <a:solidFill>
            <a:srgbClr val="124A6A"/>
          </a:solidFill>
          <a:ln w="12700">
            <a:solidFill>
              <a:srgbClr val="12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oc-section-title-accent"/>
          <p:cNvSpPr/>
          <p:nvPr/>
        </p:nvSpPr>
        <p:spPr>
          <a:xfrm>
            <a:off x="7214616" y="1691640"/>
            <a:ext cx="109728" cy="393192"/>
          </a:xfrm>
          <a:prstGeom prst="rect">
            <a:avLst/>
          </a:prstGeom>
          <a:solidFill>
            <a:srgbClr val="04A9BD"/>
          </a:solidFill>
          <a:ln w="12700">
            <a:solidFill>
              <a:srgbClr val="04A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oc-section-title"/>
          <p:cNvSpPr txBox="1"/>
          <p:nvPr/>
        </p:nvSpPr>
        <p:spPr>
          <a:xfrm>
            <a:off x="7424927" y="1709928"/>
            <a:ext cx="4535424" cy="3566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SOC 变化（演示）</a:t>
            </a:r>
          </a:p>
        </p:txBody>
      </p:sp>
      <p:sp>
        <p:nvSpPr>
          <p:cNvPr id="23" name="table-section-title-bar"/>
          <p:cNvSpPr/>
          <p:nvPr/>
        </p:nvSpPr>
        <p:spPr>
          <a:xfrm>
            <a:off x="7214616" y="4251960"/>
            <a:ext cx="4809744" cy="393192"/>
          </a:xfrm>
          <a:prstGeom prst="rect">
            <a:avLst/>
          </a:prstGeom>
          <a:solidFill>
            <a:srgbClr val="124A6A"/>
          </a:solidFill>
          <a:ln w="12700">
            <a:solidFill>
              <a:srgbClr val="12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able-section-title-accent"/>
          <p:cNvSpPr/>
          <p:nvPr/>
        </p:nvSpPr>
        <p:spPr>
          <a:xfrm>
            <a:off x="7214616" y="4251960"/>
            <a:ext cx="109728" cy="393192"/>
          </a:xfrm>
          <a:prstGeom prst="rect">
            <a:avLst/>
          </a:prstGeom>
          <a:solidFill>
            <a:srgbClr val="04A9BD"/>
          </a:solidFill>
          <a:ln w="12700">
            <a:solidFill>
              <a:srgbClr val="04A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able-section-title"/>
          <p:cNvSpPr txBox="1"/>
          <p:nvPr/>
        </p:nvSpPr>
        <p:spPr>
          <a:xfrm>
            <a:off x="7424927" y="4270248"/>
            <a:ext cx="4535424" cy="3566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计算口径</a:t>
            </a:r>
          </a:p>
        </p:txBody>
      </p:sp>
      <p:sp>
        <p:nvSpPr>
          <p:cNvPr id="26" name="grid-node"/>
          <p:cNvSpPr/>
          <p:nvPr/>
        </p:nvSpPr>
        <p:spPr>
          <a:xfrm>
            <a:off x="329184" y="3611880"/>
            <a:ext cx="877824" cy="4663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0A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 b="1">
                <a:solidFill>
                  <a:srgbClr val="0A2A4E"/>
                </a:solidFill>
                <a:latin typeface="Microsoft YaHei"/>
              </a:rPr>
              <a:t>电网</a:t>
            </a:r>
          </a:p>
        </p:txBody>
      </p:sp>
      <p:sp>
        <p:nvSpPr>
          <p:cNvPr id="27" name="heater-node"/>
          <p:cNvSpPr/>
          <p:nvPr/>
        </p:nvSpPr>
        <p:spPr>
          <a:xfrm>
            <a:off x="1755648" y="3611880"/>
            <a:ext cx="877824" cy="4663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0A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 b="1">
                <a:solidFill>
                  <a:srgbClr val="0A2A4E"/>
                </a:solidFill>
                <a:latin typeface="Microsoft YaHei"/>
              </a:rPr>
              <a:t>电加热</a:t>
            </a:r>
          </a:p>
        </p:txBody>
      </p:sp>
      <p:sp>
        <p:nvSpPr>
          <p:cNvPr id="28" name="user-node"/>
          <p:cNvSpPr/>
          <p:nvPr/>
        </p:nvSpPr>
        <p:spPr>
          <a:xfrm>
            <a:off x="6144768" y="3611880"/>
            <a:ext cx="877824" cy="4663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0A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 b="1">
                <a:solidFill>
                  <a:srgbClr val="0A2A4E"/>
                </a:solidFill>
                <a:latin typeface="Microsoft YaHei"/>
              </a:rPr>
              <a:t>热用户</a:t>
            </a:r>
          </a:p>
        </p:txBody>
      </p:sp>
      <p:pic>
        <p:nvPicPr>
          <p:cNvPr id="29" name="storage-node" descr="equi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487168"/>
            <a:ext cx="2834640" cy="2834640"/>
          </a:xfrm>
          <a:prstGeom prst="rect">
            <a:avLst/>
          </a:prstGeom>
        </p:spPr>
      </p:pic>
      <p:sp>
        <p:nvSpPr>
          <p:cNvPr id="30" name="storage-label"/>
          <p:cNvSpPr txBox="1"/>
          <p:nvPr/>
        </p:nvSpPr>
        <p:spPr>
          <a:xfrm>
            <a:off x="3803904" y="5285232"/>
            <a:ext cx="1078992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2A4E"/>
                </a:solidFill>
                <a:latin typeface="Microsoft YaHei"/>
              </a:rPr>
              <a:t>储热单元</a:t>
            </a:r>
          </a:p>
        </p:txBody>
      </p:sp>
      <p:sp>
        <p:nvSpPr>
          <p:cNvPr id="31" name="dispatch-node"/>
          <p:cNvSpPr/>
          <p:nvPr/>
        </p:nvSpPr>
        <p:spPr>
          <a:xfrm>
            <a:off x="2706624" y="2194560"/>
            <a:ext cx="1216152" cy="365760"/>
          </a:xfrm>
          <a:prstGeom prst="roundRect">
            <a:avLst>
              <a:gd name="adj" fmla="val 18000"/>
            </a:avLst>
          </a:prstGeom>
          <a:solidFill>
            <a:srgbClr val="124A6A"/>
          </a:solidFill>
          <a:ln w="12700">
            <a:solidFill>
              <a:srgbClr val="12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调度控制</a:t>
            </a:r>
          </a:p>
        </p:txBody>
      </p:sp>
      <p:cxnSp>
        <p:nvCxnSpPr>
          <p:cNvPr id="32" name="grid-to-heater"/>
          <p:cNvCxnSpPr>
            <a:cxnSpLocks/>
            <a:stCxn id="26" idx="3"/>
            <a:endCxn id="27" idx="1"/>
          </p:cNvCxnSpPr>
          <p:nvPr/>
        </p:nvCxnSpPr>
        <p:spPr>
          <a:xfrm>
            <a:off x="1207008" y="3845052"/>
            <a:ext cx="548640" cy="0"/>
          </a:xfrm>
          <a:prstGeom prst="line">
            <a:avLst/>
          </a:prstGeom>
          <a:ln w="38100">
            <a:solidFill>
              <a:srgbClr val="F28C00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heater-to-storage"/>
          <p:cNvCxnSpPr>
            <a:cxnSpLocks/>
            <a:stCxn id="27" idx="3"/>
            <a:endCxn id="29" idx="1"/>
          </p:cNvCxnSpPr>
          <p:nvPr/>
        </p:nvCxnSpPr>
        <p:spPr>
          <a:xfrm>
            <a:off x="2633472" y="3845052"/>
            <a:ext cx="292608" cy="59436"/>
          </a:xfrm>
          <a:prstGeom prst="line">
            <a:avLst/>
          </a:prstGeom>
          <a:ln w="38100">
            <a:solidFill>
              <a:srgbClr val="F2A900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orage-to-user"/>
          <p:cNvCxnSpPr>
            <a:cxnSpLocks/>
            <a:stCxn id="29" idx="3"/>
            <a:endCxn id="28" idx="1"/>
          </p:cNvCxnSpPr>
          <p:nvPr/>
        </p:nvCxnSpPr>
        <p:spPr>
          <a:xfrm flipV="1">
            <a:off x="5760720" y="3845052"/>
            <a:ext cx="384048" cy="59436"/>
          </a:xfrm>
          <a:prstGeom prst="line">
            <a:avLst/>
          </a:prstGeom>
          <a:ln w="38100">
            <a:solidFill>
              <a:srgbClr val="0893A1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dispatch-to-heater"/>
          <p:cNvCxnSpPr>
            <a:cxnSpLocks/>
            <a:stCxn id="31" idx="1"/>
            <a:endCxn id="27" idx="0"/>
          </p:cNvCxnSpPr>
          <p:nvPr/>
        </p:nvCxnSpPr>
        <p:spPr>
          <a:xfrm flipH="1">
            <a:off x="2194560" y="2377440"/>
            <a:ext cx="512064" cy="1234440"/>
          </a:xfrm>
          <a:prstGeom prst="line">
            <a:avLst/>
          </a:prstGeom>
          <a:ln w="17780">
            <a:solidFill>
              <a:srgbClr val="0A2A4E"/>
            </a:solidFill>
            <a:prstDash val="dash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dispatch-to-storage"/>
          <p:cNvCxnSpPr>
            <a:cxnSpLocks/>
            <a:stCxn id="31" idx="3"/>
            <a:endCxn id="29" idx="0"/>
          </p:cNvCxnSpPr>
          <p:nvPr/>
        </p:nvCxnSpPr>
        <p:spPr>
          <a:xfrm>
            <a:off x="3922776" y="2377440"/>
            <a:ext cx="420624" cy="109728"/>
          </a:xfrm>
          <a:prstGeom prst="line">
            <a:avLst/>
          </a:prstGeom>
          <a:ln w="17780">
            <a:solidFill>
              <a:srgbClr val="0A2A4E"/>
            </a:solidFill>
            <a:prstDash val="dash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egend-energy-line"/>
          <p:cNvCxnSpPr/>
          <p:nvPr/>
        </p:nvCxnSpPr>
        <p:spPr>
          <a:xfrm>
            <a:off x="384048" y="5797296"/>
            <a:ext cx="502920" cy="0"/>
          </a:xfrm>
          <a:prstGeom prst="line">
            <a:avLst/>
          </a:prstGeom>
          <a:ln w="30480">
            <a:solidFill>
              <a:srgbClr val="F28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egend-energy-text"/>
          <p:cNvSpPr txBox="1"/>
          <p:nvPr/>
        </p:nvSpPr>
        <p:spPr>
          <a:xfrm>
            <a:off x="1005840" y="5650992"/>
            <a:ext cx="132588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A2A4E"/>
                </a:solidFill>
                <a:latin typeface="Microsoft YaHei"/>
              </a:rPr>
              <a:t>实线：能量流</a:t>
            </a:r>
          </a:p>
        </p:txBody>
      </p:sp>
      <p:cxnSp>
        <p:nvCxnSpPr>
          <p:cNvPr id="39" name="legend-control-line"/>
          <p:cNvCxnSpPr/>
          <p:nvPr/>
        </p:nvCxnSpPr>
        <p:spPr>
          <a:xfrm>
            <a:off x="2496312" y="5797296"/>
            <a:ext cx="493776" cy="0"/>
          </a:xfrm>
          <a:prstGeom prst="line">
            <a:avLst/>
          </a:prstGeom>
          <a:ln w="17780">
            <a:solidFill>
              <a:srgbClr val="0A2A4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legend-control-text"/>
          <p:cNvSpPr txBox="1"/>
          <p:nvPr/>
        </p:nvSpPr>
        <p:spPr>
          <a:xfrm>
            <a:off x="3108960" y="5650992"/>
            <a:ext cx="16002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A2A4E"/>
                </a:solidFill>
                <a:latin typeface="Microsoft YaHei"/>
              </a:rPr>
              <a:t>虚线：控制指令</a:t>
            </a:r>
          </a:p>
        </p:txBody>
      </p:sp>
      <p:pic>
        <p:nvPicPr>
          <p:cNvPr id="41" name="soc-plot" descr="soc-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2103120"/>
            <a:ext cx="4663440" cy="1956816"/>
          </a:xfrm>
          <a:prstGeom prst="rect">
            <a:avLst/>
          </a:prstGeom>
        </p:spPr>
      </p:pic>
      <p:graphicFrame>
        <p:nvGraphicFramePr>
          <p:cNvPr id="42" name="assumptions-table"/>
          <p:cNvGraphicFramePr>
            <a:graphicFrameLocks noGrp="1"/>
          </p:cNvGraphicFramePr>
          <p:nvPr/>
        </p:nvGraphicFramePr>
        <p:xfrm>
          <a:off x="7214616" y="4645152"/>
          <a:ext cx="4809744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5324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 marL="182880" marT="18288" marB="18288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5324F"/>
                          </a:solidFill>
                          <a:latin typeface="Microsoft YaHei"/>
                        </a:rPr>
                        <a:t>约定</a:t>
                      </a:r>
                    </a:p>
                  </a:txBody>
                  <a:tcPr marL="182880" marT="18288" marB="18288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F"/>
                          </a:solidFill>
                          <a:latin typeface="Microsoft YaHei"/>
                        </a:rPr>
                        <a:t>功率与 SOC</a:t>
                      </a:r>
                    </a:p>
                  </a:txBody>
                  <a:tcPr marL="18288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F"/>
                          </a:solidFill>
                          <a:latin typeface="Microsoft YaHei"/>
                        </a:rPr>
                        <a:t>仅为演示数据</a:t>
                      </a:r>
                    </a:p>
                  </a:txBody>
                  <a:tcPr marL="18288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F"/>
                          </a:solidFill>
                          <a:latin typeface="Microsoft YaHei"/>
                        </a:rPr>
                        <a:t>储能量计算</a:t>
                      </a:r>
                    </a:p>
                  </a:txBody>
                  <a:tcPr marL="18288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F"/>
                          </a:solidFill>
                          <a:latin typeface="Microsoft YaHei"/>
                        </a:rPr>
                        <a:t>按额定值与 SOC</a:t>
                      </a:r>
                    </a:p>
                  </a:txBody>
                  <a:tcPr marL="18288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F"/>
                          </a:solidFill>
                          <a:latin typeface="Microsoft YaHei"/>
                        </a:rPr>
                        <a:t>净供热量</a:t>
                      </a:r>
                    </a:p>
                  </a:txBody>
                  <a:tcPr marL="18288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F"/>
                          </a:solidFill>
                          <a:latin typeface="Microsoft YaHei"/>
                        </a:rPr>
                        <a:t>本页不计算</a:t>
                      </a:r>
                    </a:p>
                  </a:txBody>
                  <a:tcPr marL="18288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" name="formula-rule"/>
          <p:cNvSpPr/>
          <p:nvPr/>
        </p:nvSpPr>
        <p:spPr>
          <a:xfrm>
            <a:off x="164592" y="6163056"/>
            <a:ext cx="11859768" cy="10972"/>
          </a:xfrm>
          <a:prstGeom prst="rect">
            <a:avLst/>
          </a:prstGeom>
          <a:solidFill>
            <a:srgbClr val="04A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formula-label-box"/>
          <p:cNvSpPr/>
          <p:nvPr/>
        </p:nvSpPr>
        <p:spPr>
          <a:xfrm>
            <a:off x="164592" y="6236208"/>
            <a:ext cx="1865376" cy="484632"/>
          </a:xfrm>
          <a:prstGeom prst="rect">
            <a:avLst/>
          </a:prstGeom>
          <a:solidFill>
            <a:srgbClr val="124A6A"/>
          </a:solidFill>
          <a:ln w="12700">
            <a:solidFill>
              <a:srgbClr val="12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账面储能量</a:t>
            </a:r>
          </a:p>
        </p:txBody>
      </p:sp>
      <p:sp>
        <p:nvSpPr>
          <p:cNvPr id="45" name="energy-formula"/>
          <p:cNvSpPr txBox="1"/>
          <p:nvPr/>
        </p:nvSpPr>
        <p:spPr>
          <a:xfrm>
            <a:off x="2304288" y="6245352"/>
            <a:ext cx="3977639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0E3E78"/>
                </a:solidFill>
                <a:latin typeface="Microsoft YaHei"/>
              </a:rPr>
              <a:t>E = 800 × 65% = </a:t>
            </a:r>
            <a:r>
              <a:rPr sz="2500" b="1">
                <a:solidFill>
                  <a:srgbClr val="F28C00"/>
                </a:solidFill>
                <a:latin typeface="Microsoft YaHei"/>
              </a:rPr>
              <a:t>520</a:t>
            </a:r>
            <a:r>
              <a:rPr sz="1900" b="1">
                <a:solidFill>
                  <a:srgbClr val="0E3E78"/>
                </a:solidFill>
                <a:latin typeface="Microsoft YaHei"/>
              </a:rPr>
              <a:t> kWh</a:t>
            </a:r>
          </a:p>
        </p:txBody>
      </p:sp>
      <p:sp>
        <p:nvSpPr>
          <p:cNvPr id="46" name="footnote"/>
          <p:cNvSpPr txBox="1"/>
          <p:nvPr/>
        </p:nvSpPr>
        <p:spPr>
          <a:xfrm>
            <a:off x="6931152" y="6391656"/>
            <a:ext cx="500176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49677F"/>
                </a:solidFill>
                <a:latin typeface="Microsoft YaHei"/>
              </a:rPr>
              <a:t>公开复刻示例｜参数与曲线均为虚构；设备图为示意，不代表实际产品或可交付净热量。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</Words>
  <Application>Microsoft Office PowerPoint</Application>
  <PresentationFormat>宽屏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Slide Rebuild contributors</dc:creator>
  <cp:keywords/>
  <dc:description>generated using python-pptx</dc:description>
  <cp:lastModifiedBy>Slide Rebuild contributors</cp:lastModifiedBy>
  <cp:revision>2</cp:revision>
  <dcterms:created xsi:type="dcterms:W3CDTF">2013-01-27T09:14:16Z</dcterms:created>
  <dcterms:modified xsi:type="dcterms:W3CDTF">2026-09-15T02:08:09Z</dcterms:modified>
  <cp:category/>
</cp:coreProperties>
</file>