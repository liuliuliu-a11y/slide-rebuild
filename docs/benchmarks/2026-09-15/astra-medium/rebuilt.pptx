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61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55215" y="51043"/>
            <a:ext cx="3317798" cy="65626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18" b="1">
                <a:solidFill>
                  <a:srgbClr val="092447"/>
                </a:solidFill>
                <a:latin typeface="Microsoft YaHei"/>
              </a:rPr>
              <a:t>工业储热系统</a:t>
            </a:r>
          </a:p>
        </p:txBody>
      </p:sp>
      <p:cxnSp>
        <p:nvCxnSpPr>
          <p:cNvPr id="3" name="title-divider"/>
          <p:cNvCxnSpPr/>
          <p:nvPr/>
        </p:nvCxnSpPr>
        <p:spPr>
          <a:xfrm>
            <a:off x="3755310" y="218755"/>
            <a:ext cx="0" cy="379177"/>
          </a:xfrm>
          <a:prstGeom prst="line">
            <a:avLst/>
          </a:prstGeom>
          <a:ln w="10934">
            <a:solidFill>
              <a:srgbClr val="435B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title"/>
          <p:cNvSpPr txBox="1"/>
          <p:nvPr/>
        </p:nvSpPr>
        <p:spPr>
          <a:xfrm>
            <a:off x="3974066" y="204172"/>
            <a:ext cx="3864688" cy="40105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95" b="1">
                <a:solidFill>
                  <a:srgbClr val="435B73"/>
                </a:solidFill>
                <a:latin typeface="Microsoft YaHei"/>
              </a:rPr>
              <a:t>能量流与运行状态</a:t>
            </a:r>
          </a:p>
        </p:txBody>
      </p:sp>
      <p:sp>
        <p:nvSpPr>
          <p:cNvPr id="5" name="snapshot"/>
          <p:cNvSpPr/>
          <p:nvPr/>
        </p:nvSpPr>
        <p:spPr>
          <a:xfrm>
            <a:off x="9800267" y="189588"/>
            <a:ext cx="2187559" cy="408344"/>
          </a:xfrm>
          <a:prstGeom prst="roundRect">
            <a:avLst>
              <a:gd name="adj" fmla="val 15000"/>
            </a:avLst>
          </a:prstGeom>
          <a:solidFill>
            <a:srgbClr val="1B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0">
                <a:solidFill>
                  <a:srgbClr val="FFFFFF"/>
                </a:solidFill>
                <a:latin typeface="Microsoft YaHei"/>
              </a:rPr>
              <a:t>12:00  |  虚构运行快照</a:t>
            </a:r>
          </a:p>
        </p:txBody>
      </p:sp>
      <p:cxnSp>
        <p:nvCxnSpPr>
          <p:cNvPr id="6" name="header-rule"/>
          <p:cNvCxnSpPr/>
          <p:nvPr/>
        </p:nvCxnSpPr>
        <p:spPr>
          <a:xfrm>
            <a:off x="204172" y="794813"/>
            <a:ext cx="11790947" cy="0"/>
          </a:xfrm>
          <a:prstGeom prst="line">
            <a:avLst/>
          </a:prstGeom>
          <a:ln w="10934">
            <a:solidFill>
              <a:srgbClr val="D7E2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metric-0"/>
          <p:cNvGrpSpPr/>
          <p:nvPr/>
        </p:nvGrpSpPr>
        <p:grpSpPr>
          <a:xfrm>
            <a:off x="145837" y="853148"/>
            <a:ext cx="2902162" cy="729186"/>
            <a:chOff x="145837" y="853148"/>
            <a:chExt cx="2902162" cy="729186"/>
          </a:xfrm>
        </p:grpSpPr>
        <p:sp>
          <p:nvSpPr>
            <p:cNvPr id="8" name="metric-0-label"/>
            <p:cNvSpPr txBox="1"/>
            <p:nvPr/>
          </p:nvSpPr>
          <p:spPr>
            <a:xfrm>
              <a:off x="145837" y="853148"/>
              <a:ext cx="2902162" cy="26250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77" b="0">
                  <a:solidFill>
                    <a:srgbClr val="435B73"/>
                  </a:solidFill>
                  <a:latin typeface="Microsoft YaHei"/>
                </a:rPr>
                <a:t>额定储能量</a:t>
              </a:r>
            </a:p>
          </p:txBody>
        </p:sp>
        <p:sp>
          <p:nvSpPr>
            <p:cNvPr id="9" name="metric-0-value"/>
            <p:cNvSpPr txBox="1"/>
            <p:nvPr/>
          </p:nvSpPr>
          <p:spPr>
            <a:xfrm>
              <a:off x="145837" y="1101071"/>
              <a:ext cx="2902162" cy="48126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156" b="1">
                  <a:solidFill>
                    <a:srgbClr val="007C91"/>
                  </a:solidFill>
                  <a:latin typeface="Microsoft YaHei"/>
                </a:rPr>
                <a:t>800 kWh</a:t>
              </a:r>
            </a:p>
          </p:txBody>
        </p:sp>
      </p:grpSp>
      <p:cxnSp>
        <p:nvCxnSpPr>
          <p:cNvPr id="10" name="metric-divider-0"/>
          <p:cNvCxnSpPr/>
          <p:nvPr/>
        </p:nvCxnSpPr>
        <p:spPr>
          <a:xfrm>
            <a:off x="3062583" y="926066"/>
            <a:ext cx="0" cy="612517"/>
          </a:xfrm>
          <a:prstGeom prst="line">
            <a:avLst/>
          </a:prstGeom>
          <a:ln w="7289">
            <a:solidFill>
              <a:srgbClr val="B8C7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metric-1"/>
          <p:cNvGrpSpPr/>
          <p:nvPr/>
        </p:nvGrpSpPr>
        <p:grpSpPr>
          <a:xfrm>
            <a:off x="3193837" y="853148"/>
            <a:ext cx="2902162" cy="729186"/>
            <a:chOff x="3193837" y="853148"/>
            <a:chExt cx="2902162" cy="729186"/>
          </a:xfrm>
        </p:grpSpPr>
        <p:sp>
          <p:nvSpPr>
            <p:cNvPr id="12" name="metric-1-label"/>
            <p:cNvSpPr txBox="1"/>
            <p:nvPr/>
          </p:nvSpPr>
          <p:spPr>
            <a:xfrm>
              <a:off x="3193837" y="853148"/>
              <a:ext cx="2902162" cy="26250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77" b="0">
                  <a:solidFill>
                    <a:srgbClr val="435B73"/>
                  </a:solidFill>
                  <a:latin typeface="Microsoft YaHei"/>
                </a:rPr>
                <a:t>充电功率上限</a:t>
              </a:r>
            </a:p>
          </p:txBody>
        </p:sp>
        <p:sp>
          <p:nvSpPr>
            <p:cNvPr id="13" name="metric-1-value"/>
            <p:cNvSpPr txBox="1"/>
            <p:nvPr/>
          </p:nvSpPr>
          <p:spPr>
            <a:xfrm>
              <a:off x="3193837" y="1101071"/>
              <a:ext cx="2902162" cy="48126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156" b="1">
                  <a:solidFill>
                    <a:srgbClr val="007C91"/>
                  </a:solidFill>
                  <a:latin typeface="Microsoft YaHei"/>
                </a:rPr>
                <a:t>200 kW</a:t>
              </a:r>
            </a:p>
          </p:txBody>
        </p:sp>
      </p:grpSp>
      <p:cxnSp>
        <p:nvCxnSpPr>
          <p:cNvPr id="14" name="metric-divider-1"/>
          <p:cNvCxnSpPr/>
          <p:nvPr/>
        </p:nvCxnSpPr>
        <p:spPr>
          <a:xfrm>
            <a:off x="6110583" y="926066"/>
            <a:ext cx="0" cy="612517"/>
          </a:xfrm>
          <a:prstGeom prst="line">
            <a:avLst/>
          </a:prstGeom>
          <a:ln w="7289">
            <a:solidFill>
              <a:srgbClr val="B8C7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metric-2"/>
          <p:cNvGrpSpPr/>
          <p:nvPr/>
        </p:nvGrpSpPr>
        <p:grpSpPr>
          <a:xfrm>
            <a:off x="6241837" y="853148"/>
            <a:ext cx="2902162" cy="729186"/>
            <a:chOff x="6241837" y="853148"/>
            <a:chExt cx="2902162" cy="729186"/>
          </a:xfrm>
        </p:grpSpPr>
        <p:sp>
          <p:nvSpPr>
            <p:cNvPr id="16" name="metric-2-label"/>
            <p:cNvSpPr txBox="1"/>
            <p:nvPr/>
          </p:nvSpPr>
          <p:spPr>
            <a:xfrm>
              <a:off x="6241837" y="853148"/>
              <a:ext cx="2902162" cy="26250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77" b="0">
                  <a:solidFill>
                    <a:srgbClr val="435B73"/>
                  </a:solidFill>
                  <a:latin typeface="Microsoft YaHei"/>
                </a:rPr>
                <a:t>示例放热功率</a:t>
              </a:r>
            </a:p>
          </p:txBody>
        </p:sp>
        <p:sp>
          <p:nvSpPr>
            <p:cNvPr id="17" name="metric-2-value"/>
            <p:cNvSpPr txBox="1"/>
            <p:nvPr/>
          </p:nvSpPr>
          <p:spPr>
            <a:xfrm>
              <a:off x="6241837" y="1101071"/>
              <a:ext cx="2902162" cy="48126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156" b="1">
                  <a:solidFill>
                    <a:srgbClr val="007C91"/>
                  </a:solidFill>
                  <a:latin typeface="Microsoft YaHei"/>
                </a:rPr>
                <a:t>160 kW</a:t>
              </a:r>
            </a:p>
          </p:txBody>
        </p:sp>
      </p:grpSp>
      <p:cxnSp>
        <p:nvCxnSpPr>
          <p:cNvPr id="18" name="metric-divider-2"/>
          <p:cNvCxnSpPr/>
          <p:nvPr/>
        </p:nvCxnSpPr>
        <p:spPr>
          <a:xfrm>
            <a:off x="9158583" y="926066"/>
            <a:ext cx="0" cy="612517"/>
          </a:xfrm>
          <a:prstGeom prst="line">
            <a:avLst/>
          </a:prstGeom>
          <a:ln w="7289">
            <a:solidFill>
              <a:srgbClr val="B8C7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metric-3"/>
          <p:cNvGrpSpPr/>
          <p:nvPr/>
        </p:nvGrpSpPr>
        <p:grpSpPr>
          <a:xfrm>
            <a:off x="9289837" y="853148"/>
            <a:ext cx="2902162" cy="729186"/>
            <a:chOff x="9289837" y="853148"/>
            <a:chExt cx="2902162" cy="729186"/>
          </a:xfrm>
        </p:grpSpPr>
        <p:sp>
          <p:nvSpPr>
            <p:cNvPr id="20" name="metric-3-label"/>
            <p:cNvSpPr txBox="1"/>
            <p:nvPr/>
          </p:nvSpPr>
          <p:spPr>
            <a:xfrm>
              <a:off x="9289837" y="853148"/>
              <a:ext cx="2902162" cy="26250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77" b="0">
                  <a:solidFill>
                    <a:srgbClr val="435B73"/>
                  </a:solidFill>
                  <a:latin typeface="Microsoft YaHei"/>
                </a:rPr>
                <a:t>当前 SOC</a:t>
              </a:r>
            </a:p>
          </p:txBody>
        </p:sp>
        <p:sp>
          <p:nvSpPr>
            <p:cNvPr id="21" name="metric-3-value"/>
            <p:cNvSpPr txBox="1"/>
            <p:nvPr/>
          </p:nvSpPr>
          <p:spPr>
            <a:xfrm>
              <a:off x="9289837" y="1101071"/>
              <a:ext cx="2902162" cy="48126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156" b="1">
                  <a:solidFill>
                    <a:srgbClr val="007C91"/>
                  </a:solidFill>
                  <a:latin typeface="Microsoft YaHei"/>
                </a:rPr>
                <a:t>65%</a:t>
              </a:r>
            </a:p>
          </p:txBody>
        </p:sp>
      </p:grpSp>
      <p:sp>
        <p:nvSpPr>
          <p:cNvPr id="22" name="flow-panel"/>
          <p:cNvSpPr/>
          <p:nvPr/>
        </p:nvSpPr>
        <p:spPr>
          <a:xfrm>
            <a:off x="160421" y="1699004"/>
            <a:ext cx="6956440" cy="4345952"/>
          </a:xfrm>
          <a:prstGeom prst="rect">
            <a:avLst/>
          </a:prstGeom>
          <a:noFill/>
          <a:ln w="12700">
            <a:solidFill>
              <a:srgbClr val="D7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rve-panel"/>
          <p:cNvSpPr/>
          <p:nvPr/>
        </p:nvSpPr>
        <p:spPr>
          <a:xfrm>
            <a:off x="7204363" y="1699004"/>
            <a:ext cx="4827215" cy="2486526"/>
          </a:xfrm>
          <a:prstGeom prst="rect">
            <a:avLst/>
          </a:prstGeom>
          <a:noFill/>
          <a:ln w="12700">
            <a:solidFill>
              <a:srgbClr val="D7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able-panel"/>
          <p:cNvSpPr/>
          <p:nvPr/>
        </p:nvSpPr>
        <p:spPr>
          <a:xfrm>
            <a:off x="7204363" y="4265741"/>
            <a:ext cx="4827215" cy="1779215"/>
          </a:xfrm>
          <a:prstGeom prst="rect">
            <a:avLst/>
          </a:prstGeom>
          <a:noFill/>
          <a:ln w="12700">
            <a:solidFill>
              <a:srgbClr val="D7E2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-header"/>
          <p:cNvSpPr/>
          <p:nvPr/>
        </p:nvSpPr>
        <p:spPr>
          <a:xfrm>
            <a:off x="160421" y="1699004"/>
            <a:ext cx="6956440" cy="386468"/>
          </a:xfrm>
          <a:prstGeom prst="rect">
            <a:avLst/>
          </a:prstGeom>
          <a:solidFill>
            <a:srgbClr val="19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low-header-accent"/>
          <p:cNvSpPr/>
          <p:nvPr/>
        </p:nvSpPr>
        <p:spPr>
          <a:xfrm>
            <a:off x="160421" y="1699004"/>
            <a:ext cx="102086" cy="386468"/>
          </a:xfrm>
          <a:prstGeom prst="rect">
            <a:avLst/>
          </a:prstGeom>
          <a:solidFill>
            <a:srgbClr val="00A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low-header-text"/>
          <p:cNvSpPr txBox="1"/>
          <p:nvPr/>
        </p:nvSpPr>
        <p:spPr>
          <a:xfrm>
            <a:off x="379177" y="1720880"/>
            <a:ext cx="6664765" cy="34271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FFFFFF"/>
                </a:solidFill>
                <a:latin typeface="Microsoft YaHei"/>
              </a:rPr>
              <a:t>能量路径与调度</a:t>
            </a:r>
          </a:p>
        </p:txBody>
      </p:sp>
      <p:sp>
        <p:nvSpPr>
          <p:cNvPr id="28" name="curve-header"/>
          <p:cNvSpPr/>
          <p:nvPr/>
        </p:nvSpPr>
        <p:spPr>
          <a:xfrm>
            <a:off x="7204363" y="1699004"/>
            <a:ext cx="4827215" cy="386468"/>
          </a:xfrm>
          <a:prstGeom prst="rect">
            <a:avLst/>
          </a:prstGeom>
          <a:solidFill>
            <a:srgbClr val="19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urve-header-accent"/>
          <p:cNvSpPr/>
          <p:nvPr/>
        </p:nvSpPr>
        <p:spPr>
          <a:xfrm>
            <a:off x="7204363" y="1699004"/>
            <a:ext cx="102086" cy="386468"/>
          </a:xfrm>
          <a:prstGeom prst="rect">
            <a:avLst/>
          </a:prstGeom>
          <a:solidFill>
            <a:srgbClr val="00A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urve-header-text"/>
          <p:cNvSpPr txBox="1"/>
          <p:nvPr/>
        </p:nvSpPr>
        <p:spPr>
          <a:xfrm>
            <a:off x="7423119" y="1720880"/>
            <a:ext cx="4535540" cy="34271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FFFFFF"/>
                </a:solidFill>
                <a:latin typeface="Microsoft YaHei"/>
              </a:rPr>
              <a:t>SOC 变化（演示）</a:t>
            </a:r>
          </a:p>
        </p:txBody>
      </p:sp>
      <p:sp>
        <p:nvSpPr>
          <p:cNvPr id="31" name="table-header"/>
          <p:cNvSpPr/>
          <p:nvPr/>
        </p:nvSpPr>
        <p:spPr>
          <a:xfrm>
            <a:off x="7204363" y="4265741"/>
            <a:ext cx="4827215" cy="386468"/>
          </a:xfrm>
          <a:prstGeom prst="rect">
            <a:avLst/>
          </a:prstGeom>
          <a:solidFill>
            <a:srgbClr val="19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able-header-accent"/>
          <p:cNvSpPr/>
          <p:nvPr/>
        </p:nvSpPr>
        <p:spPr>
          <a:xfrm>
            <a:off x="7204363" y="4265741"/>
            <a:ext cx="102086" cy="386468"/>
          </a:xfrm>
          <a:prstGeom prst="rect">
            <a:avLst/>
          </a:prstGeom>
          <a:solidFill>
            <a:srgbClr val="00A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able-header-text"/>
          <p:cNvSpPr txBox="1"/>
          <p:nvPr/>
        </p:nvSpPr>
        <p:spPr>
          <a:xfrm>
            <a:off x="7423119" y="4287617"/>
            <a:ext cx="4535540" cy="34271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FFFFFF"/>
                </a:solidFill>
                <a:latin typeface="Microsoft YaHei"/>
              </a:rPr>
              <a:t>计算口径</a:t>
            </a:r>
          </a:p>
        </p:txBody>
      </p:sp>
      <p:sp>
        <p:nvSpPr>
          <p:cNvPr id="34" name="grid-node"/>
          <p:cNvSpPr/>
          <p:nvPr/>
        </p:nvSpPr>
        <p:spPr>
          <a:xfrm>
            <a:off x="328133" y="3609473"/>
            <a:ext cx="882315" cy="46667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9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92447"/>
                </a:solidFill>
                <a:latin typeface="Microsoft YaHei"/>
              </a:rPr>
              <a:t>电网</a:t>
            </a:r>
          </a:p>
        </p:txBody>
      </p:sp>
      <p:sp>
        <p:nvSpPr>
          <p:cNvPr id="35" name="heater-node"/>
          <p:cNvSpPr/>
          <p:nvPr/>
        </p:nvSpPr>
        <p:spPr>
          <a:xfrm>
            <a:off x="1771923" y="3624057"/>
            <a:ext cx="809397" cy="43751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9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92447"/>
                </a:solidFill>
                <a:latin typeface="Microsoft YaHei"/>
              </a:rPr>
              <a:t>电加热</a:t>
            </a:r>
          </a:p>
        </p:txBody>
      </p:sp>
      <p:sp>
        <p:nvSpPr>
          <p:cNvPr id="36" name="heat-user"/>
          <p:cNvSpPr/>
          <p:nvPr/>
        </p:nvSpPr>
        <p:spPr>
          <a:xfrm>
            <a:off x="6110583" y="3609473"/>
            <a:ext cx="853148" cy="46667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9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92447"/>
                </a:solidFill>
                <a:latin typeface="Microsoft YaHei"/>
              </a:rPr>
              <a:t>热用户</a:t>
            </a:r>
          </a:p>
        </p:txBody>
      </p:sp>
      <p:sp>
        <p:nvSpPr>
          <p:cNvPr id="37" name="dispatch-node"/>
          <p:cNvSpPr/>
          <p:nvPr/>
        </p:nvSpPr>
        <p:spPr>
          <a:xfrm>
            <a:off x="2697990" y="2202143"/>
            <a:ext cx="1152114" cy="350009"/>
          </a:xfrm>
          <a:prstGeom prst="roundRect">
            <a:avLst>
              <a:gd name="adj" fmla="val 15000"/>
            </a:avLst>
          </a:prstGeom>
          <a:solidFill>
            <a:srgbClr val="193F58"/>
          </a:solidFill>
          <a:ln w="19050">
            <a:solidFill>
              <a:srgbClr val="09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icrosoft YaHei"/>
              </a:rPr>
              <a:t>调度控制</a:t>
            </a:r>
          </a:p>
        </p:txBody>
      </p:sp>
      <p:sp>
        <p:nvSpPr>
          <p:cNvPr id="38" name="storage-flow-anchor"/>
          <p:cNvSpPr/>
          <p:nvPr/>
        </p:nvSpPr>
        <p:spPr>
          <a:xfrm>
            <a:off x="3106334" y="2916746"/>
            <a:ext cx="2362564" cy="18521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storage-node"/>
          <p:cNvGrpSpPr/>
          <p:nvPr/>
        </p:nvGrpSpPr>
        <p:grpSpPr>
          <a:xfrm>
            <a:off x="2829243" y="2581320"/>
            <a:ext cx="2894870" cy="3018832"/>
            <a:chOff x="2829243" y="2581320"/>
            <a:chExt cx="2894870" cy="3018832"/>
          </a:xfrm>
        </p:grpSpPr>
        <p:pic>
          <p:nvPicPr>
            <p:cNvPr id="40" name="equipment-image" descr="equipmen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9243" y="2581320"/>
              <a:ext cx="2894870" cy="2894870"/>
            </a:xfrm>
            <a:prstGeom prst="rect">
              <a:avLst/>
            </a:prstGeom>
            <a:effectLst/>
          </p:spPr>
        </p:pic>
        <p:sp>
          <p:nvSpPr>
            <p:cNvPr id="41" name="storage-label"/>
            <p:cNvSpPr txBox="1"/>
            <p:nvPr/>
          </p:nvSpPr>
          <p:spPr>
            <a:xfrm>
              <a:off x="3463636" y="5352229"/>
              <a:ext cx="1494832" cy="24792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92447"/>
                  </a:solidFill>
                  <a:latin typeface="Microsoft YaHei"/>
                </a:rPr>
                <a:t>储热单元</a:t>
              </a:r>
            </a:p>
          </p:txBody>
        </p:sp>
      </p:grpSp>
      <p:cxnSp>
        <p:nvCxnSpPr>
          <p:cNvPr id="42" name="grid-to-heater"/>
          <p:cNvCxnSpPr>
            <a:stCxn id="34" idx="3"/>
            <a:endCxn id="35" idx="1"/>
          </p:cNvCxnSpPr>
          <p:nvPr/>
        </p:nvCxnSpPr>
        <p:spPr>
          <a:xfrm>
            <a:off x="1210448" y="3842812"/>
            <a:ext cx="561475" cy="0"/>
          </a:xfrm>
          <a:prstGeom prst="line">
            <a:avLst/>
          </a:prstGeom>
          <a:ln w="51028">
            <a:solidFill>
              <a:srgbClr val="F87D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heater-to-storage"/>
          <p:cNvCxnSpPr>
            <a:stCxn id="35" idx="3"/>
            <a:endCxn id="38" idx="1"/>
          </p:cNvCxnSpPr>
          <p:nvPr/>
        </p:nvCxnSpPr>
        <p:spPr>
          <a:xfrm>
            <a:off x="2581320" y="3842812"/>
            <a:ext cx="525014" cy="0"/>
          </a:xfrm>
          <a:prstGeom prst="line">
            <a:avLst/>
          </a:prstGeom>
          <a:ln w="51028">
            <a:solidFill>
              <a:srgbClr val="F5AF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orage-to-user"/>
          <p:cNvCxnSpPr>
            <a:stCxn id="38" idx="3"/>
            <a:endCxn id="36" idx="1"/>
          </p:cNvCxnSpPr>
          <p:nvPr/>
        </p:nvCxnSpPr>
        <p:spPr>
          <a:xfrm>
            <a:off x="5468898" y="3842812"/>
            <a:ext cx="641685" cy="0"/>
          </a:xfrm>
          <a:prstGeom prst="line">
            <a:avLst/>
          </a:prstGeom>
          <a:ln w="51028">
            <a:solidFill>
              <a:srgbClr val="0093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trol-to-heater"/>
          <p:cNvCxnSpPr>
            <a:cxnSpLocks/>
            <a:stCxn id="37" idx="1"/>
            <a:endCxn id="35" idx="0"/>
          </p:cNvCxnSpPr>
          <p:nvPr/>
        </p:nvCxnSpPr>
        <p:spPr>
          <a:xfrm rot="10800000" flipV="1">
            <a:off x="2176622" y="2377147"/>
            <a:ext cx="521368" cy="1246909"/>
          </a:xfrm>
          <a:prstGeom prst="bentConnector2">
            <a:avLst/>
          </a:prstGeom>
          <a:ln w="14579">
            <a:solidFill>
              <a:srgbClr val="09244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trol-to-storage"/>
          <p:cNvCxnSpPr>
            <a:stCxn id="37" idx="2"/>
          </p:cNvCxnSpPr>
          <p:nvPr/>
        </p:nvCxnSpPr>
        <p:spPr>
          <a:xfrm>
            <a:off x="3274047" y="2552152"/>
            <a:ext cx="0" cy="452096"/>
          </a:xfrm>
          <a:prstGeom prst="line">
            <a:avLst/>
          </a:prstGeom>
          <a:ln w="14579">
            <a:solidFill>
              <a:srgbClr val="09244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nergy-legend-line"/>
          <p:cNvCxnSpPr/>
          <p:nvPr/>
        </p:nvCxnSpPr>
        <p:spPr>
          <a:xfrm>
            <a:off x="350009" y="5818908"/>
            <a:ext cx="561474" cy="0"/>
          </a:xfrm>
          <a:prstGeom prst="line">
            <a:avLst/>
          </a:prstGeom>
          <a:ln w="29159">
            <a:solidFill>
              <a:srgbClr val="F87D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nergy-legend"/>
          <p:cNvSpPr txBox="1"/>
          <p:nvPr/>
        </p:nvSpPr>
        <p:spPr>
          <a:xfrm>
            <a:off x="1020861" y="5673071"/>
            <a:ext cx="1604210" cy="30625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92447"/>
                </a:solidFill>
                <a:latin typeface="Microsoft YaHei"/>
              </a:rPr>
              <a:t>实线：能量流</a:t>
            </a:r>
          </a:p>
        </p:txBody>
      </p:sp>
      <p:cxnSp>
        <p:nvCxnSpPr>
          <p:cNvPr id="49" name="control-legend-line"/>
          <p:cNvCxnSpPr/>
          <p:nvPr/>
        </p:nvCxnSpPr>
        <p:spPr>
          <a:xfrm>
            <a:off x="2515693" y="5818908"/>
            <a:ext cx="495847" cy="0"/>
          </a:xfrm>
          <a:prstGeom prst="line">
            <a:avLst/>
          </a:prstGeom>
          <a:ln w="14579">
            <a:solidFill>
              <a:srgbClr val="09244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ontrol-legend"/>
          <p:cNvSpPr txBox="1"/>
          <p:nvPr/>
        </p:nvSpPr>
        <p:spPr>
          <a:xfrm>
            <a:off x="3142794" y="5673071"/>
            <a:ext cx="1786507" cy="30625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92447"/>
                </a:solidFill>
                <a:latin typeface="Microsoft YaHei"/>
              </a:rPr>
              <a:t>虚线：控制指令</a:t>
            </a:r>
          </a:p>
        </p:txBody>
      </p:sp>
      <p:pic>
        <p:nvPicPr>
          <p:cNvPr id="51" name="soc-plot" descr="soc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114" y="2187559"/>
            <a:ext cx="4739712" cy="1990679"/>
          </a:xfrm>
          <a:prstGeom prst="rect">
            <a:avLst/>
          </a:prstGeom>
          <a:effectLst/>
        </p:spPr>
      </p:pic>
      <p:graphicFrame>
        <p:nvGraphicFramePr>
          <p:cNvPr id="52" name="assumptions-table"/>
          <p:cNvGraphicFramePr>
            <a:graphicFrameLocks noGrp="1"/>
          </p:cNvGraphicFramePr>
          <p:nvPr/>
        </p:nvGraphicFramePr>
        <p:xfrm>
          <a:off x="7204363" y="4652210"/>
          <a:ext cx="4827214" cy="1392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18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1">
                          <a:solidFill>
                            <a:srgbClr val="092447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262507" marR="43751" marT="0" marB="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1">
                          <a:solidFill>
                            <a:srgbClr val="092447"/>
                          </a:solidFill>
                          <a:latin typeface="Microsoft YaHei"/>
                        </a:rPr>
                        <a:t>约定</a:t>
                      </a:r>
                    </a:p>
                  </a:txBody>
                  <a:tcPr marL="262507" marR="43751" marT="0" marB="0" anchor="ctr"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8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0">
                          <a:solidFill>
                            <a:srgbClr val="092447"/>
                          </a:solidFill>
                          <a:latin typeface="Microsoft YaHei"/>
                        </a:rPr>
                        <a:t>功率与 SOC</a:t>
                      </a:r>
                    </a:p>
                  </a:txBody>
                  <a:tcPr marL="262507" marR="43751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0">
                          <a:solidFill>
                            <a:srgbClr val="092447"/>
                          </a:solidFill>
                          <a:latin typeface="Microsoft YaHei"/>
                        </a:rPr>
                        <a:t>仅为演示数据</a:t>
                      </a:r>
                    </a:p>
                  </a:txBody>
                  <a:tcPr marL="262507" marR="43751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8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0">
                          <a:solidFill>
                            <a:srgbClr val="092447"/>
                          </a:solidFill>
                          <a:latin typeface="Microsoft YaHei"/>
                        </a:rPr>
                        <a:t>储能量计算</a:t>
                      </a:r>
                    </a:p>
                  </a:txBody>
                  <a:tcPr marL="262507" marR="43751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0">
                          <a:solidFill>
                            <a:srgbClr val="092447"/>
                          </a:solidFill>
                          <a:latin typeface="Microsoft YaHei"/>
                        </a:rPr>
                        <a:t>按额定值与 SOC</a:t>
                      </a:r>
                    </a:p>
                  </a:txBody>
                  <a:tcPr marL="262507" marR="43751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0">
                          <a:solidFill>
                            <a:srgbClr val="092447"/>
                          </a:solidFill>
                          <a:latin typeface="Microsoft YaHei"/>
                        </a:rPr>
                        <a:t>净供热量</a:t>
                      </a:r>
                    </a:p>
                  </a:txBody>
                  <a:tcPr marL="262507" marR="43751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2" b="0">
                          <a:solidFill>
                            <a:srgbClr val="092447"/>
                          </a:solidFill>
                          <a:latin typeface="Microsoft YaHei"/>
                        </a:rPr>
                        <a:t>本页不计算</a:t>
                      </a:r>
                    </a:p>
                  </a:txBody>
                  <a:tcPr marL="262507" marR="43751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3" name="bottom-rule"/>
          <p:cNvCxnSpPr/>
          <p:nvPr/>
        </p:nvCxnSpPr>
        <p:spPr>
          <a:xfrm>
            <a:off x="160421" y="6205377"/>
            <a:ext cx="11871157" cy="0"/>
          </a:xfrm>
          <a:prstGeom prst="line">
            <a:avLst/>
          </a:prstGeom>
          <a:ln w="10934">
            <a:solidFill>
              <a:srgbClr val="00A3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nergy-banner"/>
          <p:cNvSpPr/>
          <p:nvPr/>
        </p:nvSpPr>
        <p:spPr>
          <a:xfrm>
            <a:off x="160421" y="6205377"/>
            <a:ext cx="1837550" cy="495846"/>
          </a:xfrm>
          <a:prstGeom prst="rect">
            <a:avLst/>
          </a:prstGeom>
          <a:solidFill>
            <a:srgbClr val="193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ergy-banner-text"/>
          <p:cNvSpPr txBox="1"/>
          <p:nvPr/>
        </p:nvSpPr>
        <p:spPr>
          <a:xfrm>
            <a:off x="306258" y="6256420"/>
            <a:ext cx="1589626" cy="37917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1" b="1">
                <a:solidFill>
                  <a:srgbClr val="FFFFFF"/>
                </a:solidFill>
                <a:latin typeface="Microsoft YaHei"/>
              </a:rPr>
              <a:t>账面储能量</a:t>
            </a:r>
          </a:p>
        </p:txBody>
      </p:sp>
      <p:sp>
        <p:nvSpPr>
          <p:cNvPr id="56" name="energy-formula"/>
          <p:cNvSpPr txBox="1"/>
          <p:nvPr/>
        </p:nvSpPr>
        <p:spPr>
          <a:xfrm>
            <a:off x="2304229" y="6234545"/>
            <a:ext cx="3791770" cy="466679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73A73"/>
                </a:solidFill>
                <a:latin typeface="Microsoft YaHei"/>
              </a:rPr>
              <a:t>E = 800 × 65% = </a:t>
            </a:r>
            <a:r>
              <a:rPr sz="2870" b="1">
                <a:solidFill>
                  <a:srgbClr val="F77F22"/>
                </a:solidFill>
                <a:latin typeface="Microsoft YaHei"/>
              </a:rPr>
              <a:t>520</a:t>
            </a:r>
            <a:r>
              <a:rPr sz="2066" b="1">
                <a:solidFill>
                  <a:srgbClr val="073A73"/>
                </a:solidFill>
                <a:latin typeface="Microsoft YaHei"/>
              </a:rPr>
              <a:t> kWh</a:t>
            </a:r>
          </a:p>
        </p:txBody>
      </p:sp>
      <p:sp>
        <p:nvSpPr>
          <p:cNvPr id="57" name="footnote"/>
          <p:cNvSpPr txBox="1"/>
          <p:nvPr/>
        </p:nvSpPr>
        <p:spPr>
          <a:xfrm>
            <a:off x="7415827" y="6511636"/>
            <a:ext cx="4623042" cy="24063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1" b="0">
                <a:solidFill>
                  <a:srgbClr val="435B73"/>
                </a:solidFill>
                <a:latin typeface="Microsoft YaHei"/>
              </a:rPr>
              <a:t>公开复刻示例｜参数与曲线均为虚构；设备图为示意，不代表实际产品或可交付净热量。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自定义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Slide Rebuild contributors</dc:creator>
  <cp:keywords/>
  <dc:description>generated using python-pptx</dc:description>
  <cp:lastModifiedBy>Slide Rebuild contributors</cp:lastModifiedBy>
  <cp:revision>2</cp:revision>
  <dcterms:created xsi:type="dcterms:W3CDTF">2013-01-27T09:14:16Z</dcterms:created>
  <dcterms:modified xsi:type="dcterms:W3CDTF">2026-09-15T01:54:47Z</dcterms:modified>
  <cp:category/>
</cp:coreProperties>
</file>